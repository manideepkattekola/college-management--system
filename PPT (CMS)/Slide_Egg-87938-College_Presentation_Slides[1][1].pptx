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1053" r:id="rId3"/>
    <p:sldId id="258" r:id="rId4"/>
    <p:sldId id="259" r:id="rId5"/>
    <p:sldId id="1054" r:id="rId6"/>
    <p:sldId id="260" r:id="rId7"/>
    <p:sldId id="262" r:id="rId8"/>
    <p:sldId id="261" r:id="rId9"/>
    <p:sldId id="1056" r:id="rId10"/>
    <p:sldId id="1058" r:id="rId11"/>
    <p:sldId id="263" r:id="rId12"/>
    <p:sldId id="1057" r:id="rId13"/>
    <p:sldId id="104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37A"/>
    <a:srgbClr val="FE92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1" d="100"/>
          <a:sy n="81"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gam pooja" userId="a6b3e9ae13990ef1" providerId="LiveId" clId="{95E1FA55-35F6-4DFD-8F58-990E21522B20}"/>
    <pc:docChg chg="modSld">
      <pc:chgData name="bagam pooja" userId="a6b3e9ae13990ef1" providerId="LiveId" clId="{95E1FA55-35F6-4DFD-8F58-990E21522B20}" dt="2024-03-23T09:11:04.049" v="11" actId="20577"/>
      <pc:docMkLst>
        <pc:docMk/>
      </pc:docMkLst>
      <pc:sldChg chg="modSp mod">
        <pc:chgData name="bagam pooja" userId="a6b3e9ae13990ef1" providerId="LiveId" clId="{95E1FA55-35F6-4DFD-8F58-990E21522B20}" dt="2024-03-23T08:30:23.937" v="10" actId="20577"/>
        <pc:sldMkLst>
          <pc:docMk/>
          <pc:sldMk cId="1831484023" sldId="257"/>
        </pc:sldMkLst>
        <pc:spChg chg="mod">
          <ac:chgData name="bagam pooja" userId="a6b3e9ae13990ef1" providerId="LiveId" clId="{95E1FA55-35F6-4DFD-8F58-990E21522B20}" dt="2024-03-23T08:30:23.937" v="10" actId="20577"/>
          <ac:spMkLst>
            <pc:docMk/>
            <pc:sldMk cId="1831484023" sldId="257"/>
            <ac:spMk id="3" creationId="{11AAE19F-BF25-4735-682F-287FAFC4A07C}"/>
          </ac:spMkLst>
        </pc:spChg>
      </pc:sldChg>
      <pc:sldChg chg="modSp mod">
        <pc:chgData name="bagam pooja" userId="a6b3e9ae13990ef1" providerId="LiveId" clId="{95E1FA55-35F6-4DFD-8F58-990E21522B20}" dt="2024-03-23T09:11:04.049" v="11" actId="20577"/>
        <pc:sldMkLst>
          <pc:docMk/>
          <pc:sldMk cId="4076151815" sldId="1046"/>
        </pc:sldMkLst>
        <pc:spChg chg="mod">
          <ac:chgData name="bagam pooja" userId="a6b3e9ae13990ef1" providerId="LiveId" clId="{95E1FA55-35F6-4DFD-8F58-990E21522B20}" dt="2024-03-23T09:11:04.049" v="11" actId="20577"/>
          <ac:spMkLst>
            <pc:docMk/>
            <pc:sldMk cId="4076151815" sldId="1046"/>
            <ac:spMk id="4" creationId="{AA022012-F0A4-EAD0-5433-F3D20941C3F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C844-AFB3-4D8B-9A7D-18182C5662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FEE0A2-BA98-431A-8D6A-2D9CA62F61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F3051C-4B95-4624-948B-14A6C8AC181C}"/>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5" name="Footer Placeholder 4">
            <a:extLst>
              <a:ext uri="{FF2B5EF4-FFF2-40B4-BE49-F238E27FC236}">
                <a16:creationId xmlns:a16="http://schemas.microsoft.com/office/drawing/2014/main" id="{9A07E007-0835-43FA-9E9C-A4A4E5EAE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6F2253-C813-4A85-8379-CD16B38ED4F8}"/>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1845359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55AF3-4E6D-4770-AB25-FA617E258F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D50A33-5C29-4775-8C17-C12AD0E3E3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8F86A5-7E3B-4624-BBBF-9FCB13B04289}"/>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5" name="Footer Placeholder 4">
            <a:extLst>
              <a:ext uri="{FF2B5EF4-FFF2-40B4-BE49-F238E27FC236}">
                <a16:creationId xmlns:a16="http://schemas.microsoft.com/office/drawing/2014/main" id="{D852EE01-B951-4BE7-82D4-8827C5DD5C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F4646B-FB58-4064-B6E8-198377546A2A}"/>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1541227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E61C7-63B6-4476-8CE8-852F59AFCE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6E0154-064C-42DE-8551-EB171B33C6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CC64B2-956B-46ED-A37D-C515E9A52D33}"/>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5" name="Footer Placeholder 4">
            <a:extLst>
              <a:ext uri="{FF2B5EF4-FFF2-40B4-BE49-F238E27FC236}">
                <a16:creationId xmlns:a16="http://schemas.microsoft.com/office/drawing/2014/main" id="{BC833C98-1F06-41F2-B320-EFFD08526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89A44-E0D5-4AD7-8490-6C6B8657152E}"/>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1300107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B2B7B-60BC-4B6C-8913-3753891BC3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28DC1-3733-4AB1-BD00-A7FB7C2C53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696CF0-9B36-4C8F-AD24-F408F1E57B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6764-EFF8-4803-804E-04E3691DD97A}"/>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6" name="Footer Placeholder 5">
            <a:extLst>
              <a:ext uri="{FF2B5EF4-FFF2-40B4-BE49-F238E27FC236}">
                <a16:creationId xmlns:a16="http://schemas.microsoft.com/office/drawing/2014/main" id="{3310BF93-22AD-4488-AC35-07B19A91D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496AE9-C9B4-4F4B-921F-795F5B1EEE87}"/>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3106098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E8C3E-759E-43D1-BE72-430F07AC93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94A5F6-D506-48F6-BDD3-806FD684D6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CE0B76-2D20-47C4-9BC2-4554835F86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0C2199-F756-4787-897C-05A3BFDB38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82C388-866A-4B71-B41C-778C8C9CC0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A3CDF3-4A3C-4413-96EA-24D0BF105D21}"/>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8" name="Footer Placeholder 7">
            <a:extLst>
              <a:ext uri="{FF2B5EF4-FFF2-40B4-BE49-F238E27FC236}">
                <a16:creationId xmlns:a16="http://schemas.microsoft.com/office/drawing/2014/main" id="{CCCE5348-F5A3-454B-AE1F-8CCC92E468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9591DBB-B6D7-4402-8A72-4F199685F07C}"/>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2030540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C652-DD31-4F2E-9A4E-76FAE45E6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B73530-4BF8-4103-9BF3-43951B010607}"/>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4" name="Footer Placeholder 3">
            <a:extLst>
              <a:ext uri="{FF2B5EF4-FFF2-40B4-BE49-F238E27FC236}">
                <a16:creationId xmlns:a16="http://schemas.microsoft.com/office/drawing/2014/main" id="{A12CB708-C801-44FE-9588-8D804FACD2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EF9824-0814-4E02-8643-00644E8199A6}"/>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1243012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80CFCB-23E4-4C5F-B032-3418A827000C}"/>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3" name="Footer Placeholder 2">
            <a:extLst>
              <a:ext uri="{FF2B5EF4-FFF2-40B4-BE49-F238E27FC236}">
                <a16:creationId xmlns:a16="http://schemas.microsoft.com/office/drawing/2014/main" id="{90E650A3-A8F0-4A68-98B0-2A5B59A77C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C89C81-6D81-49C0-8A3A-B21C81882DAC}"/>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3322674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702F-7F8C-41AE-ADB2-4FF2F375A0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44F2A4-BDCC-41EC-9EFC-D7B8F43989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2E88D1-A4D6-48B8-9291-773D781920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431D01-71FF-495A-A47B-B949D9748312}"/>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6" name="Footer Placeholder 5">
            <a:extLst>
              <a:ext uri="{FF2B5EF4-FFF2-40B4-BE49-F238E27FC236}">
                <a16:creationId xmlns:a16="http://schemas.microsoft.com/office/drawing/2014/main" id="{F420431F-9C56-45F3-88D3-5C90B822DE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2DC1E2-2EBD-4017-9A0E-07AE909554BE}"/>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3746121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6DC3-B803-46CF-8A9F-C4090070B1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77289E-AC51-401A-95E3-8942035EBA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BE0E22-EAC8-43C5-AC20-D0052432C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9BEE22-E73F-4A16-BEA3-F724D88EA56E}"/>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6" name="Footer Placeholder 5">
            <a:extLst>
              <a:ext uri="{FF2B5EF4-FFF2-40B4-BE49-F238E27FC236}">
                <a16:creationId xmlns:a16="http://schemas.microsoft.com/office/drawing/2014/main" id="{C60016A7-AFC3-446D-A689-2F59F2421F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A0BEBC-6E7D-4F6C-A6A1-64C8747FFF7A}"/>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869372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BCCB-2616-48A6-B76F-164D7B8262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AE2E4E-079A-4FE3-BB1E-C028800E5F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7351C6-D510-4ECB-8D70-C2F026C37478}"/>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5" name="Footer Placeholder 4">
            <a:extLst>
              <a:ext uri="{FF2B5EF4-FFF2-40B4-BE49-F238E27FC236}">
                <a16:creationId xmlns:a16="http://schemas.microsoft.com/office/drawing/2014/main" id="{C0B7500E-EBEF-4970-BEA2-2E21A34663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3F3E5C-1FFE-4F3C-AEBA-17D967450CA9}"/>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1210948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FD5EF3-6650-418C-B066-DA158758FA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D8776A-3472-4E60-A67A-EE868E9224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3C9F5-D49A-44B7-846B-F887CE64705E}"/>
              </a:ext>
            </a:extLst>
          </p:cNvPr>
          <p:cNvSpPr>
            <a:spLocks noGrp="1"/>
          </p:cNvSpPr>
          <p:nvPr>
            <p:ph type="dt" sz="half" idx="10"/>
          </p:nvPr>
        </p:nvSpPr>
        <p:spPr/>
        <p:txBody>
          <a:bodyPr/>
          <a:lstStyle/>
          <a:p>
            <a:fld id="{133CF7DC-4218-4A7E-A3F3-BA73E7647985}" type="datetimeFigureOut">
              <a:rPr lang="en-US" smtClean="0"/>
              <a:t>7/3/2024</a:t>
            </a:fld>
            <a:endParaRPr lang="en-US"/>
          </a:p>
        </p:txBody>
      </p:sp>
      <p:sp>
        <p:nvSpPr>
          <p:cNvPr id="5" name="Footer Placeholder 4">
            <a:extLst>
              <a:ext uri="{FF2B5EF4-FFF2-40B4-BE49-F238E27FC236}">
                <a16:creationId xmlns:a16="http://schemas.microsoft.com/office/drawing/2014/main" id="{A6C58C5D-F54E-44DA-8DBC-7ADE4BB00D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975BA3-2ADE-42C9-9BF6-9A26223092AE}"/>
              </a:ext>
            </a:extLst>
          </p:cNvPr>
          <p:cNvSpPr>
            <a:spLocks noGrp="1"/>
          </p:cNvSpPr>
          <p:nvPr>
            <p:ph type="sldNum" sz="quarter" idx="12"/>
          </p:nvPr>
        </p:nvSpPr>
        <p:spPr/>
        <p:txBody>
          <a:bodyPr/>
          <a:lstStyle/>
          <a:p>
            <a:fld id="{2238A679-577B-48C5-ACC8-2DC3B38EB155}" type="slidenum">
              <a:rPr lang="en-US" smtClean="0"/>
              <a:t>‹#›</a:t>
            </a:fld>
            <a:endParaRPr lang="en-US"/>
          </a:p>
        </p:txBody>
      </p:sp>
    </p:spTree>
    <p:extLst>
      <p:ext uri="{BB962C8B-B14F-4D97-AF65-F5344CB8AC3E}">
        <p14:creationId xmlns:p14="http://schemas.microsoft.com/office/powerpoint/2010/main" val="561293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453B9-97E4-4AD8-8B8F-1C4B62620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0076A7-1CE7-4D9E-8C35-9721C0D893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F37E71-D03C-4115-8CCE-88DA50EAE7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3CF7DC-4218-4A7E-A3F3-BA73E7647985}" type="datetimeFigureOut">
              <a:rPr lang="en-US" smtClean="0"/>
              <a:t>7/3/2024</a:t>
            </a:fld>
            <a:endParaRPr lang="en-US"/>
          </a:p>
        </p:txBody>
      </p:sp>
      <p:sp>
        <p:nvSpPr>
          <p:cNvPr id="5" name="Footer Placeholder 4">
            <a:extLst>
              <a:ext uri="{FF2B5EF4-FFF2-40B4-BE49-F238E27FC236}">
                <a16:creationId xmlns:a16="http://schemas.microsoft.com/office/drawing/2014/main" id="{33FEBCD7-4627-4A4C-930C-6AE5BA76E7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280E4E-BE10-4953-A13E-C03BF2FC6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38A679-577B-48C5-ACC8-2DC3B38EB155}" type="slidenum">
              <a:rPr lang="en-US" smtClean="0"/>
              <a:t>‹#›</a:t>
            </a:fld>
            <a:endParaRPr lang="en-US"/>
          </a:p>
        </p:txBody>
      </p:sp>
    </p:spTree>
    <p:extLst>
      <p:ext uri="{BB962C8B-B14F-4D97-AF65-F5344CB8AC3E}">
        <p14:creationId xmlns:p14="http://schemas.microsoft.com/office/powerpoint/2010/main" val="1917885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A group of women holding diplomas&#10;&#10;Description automatically generated with low confidence">
            <a:extLst>
              <a:ext uri="{FF2B5EF4-FFF2-40B4-BE49-F238E27FC236}">
                <a16:creationId xmlns:a16="http://schemas.microsoft.com/office/drawing/2014/main" id="{1F76B1C3-A584-4107-6979-51B753EF0A47}"/>
              </a:ext>
            </a:extLst>
          </p:cNvPr>
          <p:cNvPicPr>
            <a:picLocks noChangeAspect="1"/>
          </p:cNvPicPr>
          <p:nvPr/>
        </p:nvPicPr>
        <p:blipFill rotWithShape="1">
          <a:blip r:embed="rId2">
            <a:extLst>
              <a:ext uri="{28A0092B-C50C-407E-A947-70E740481C1C}">
                <a14:useLocalDpi xmlns:a14="http://schemas.microsoft.com/office/drawing/2010/main" val="0"/>
              </a:ext>
            </a:extLst>
          </a:blip>
          <a:srcRect t="5975" b="9771"/>
          <a:stretch/>
        </p:blipFill>
        <p:spPr>
          <a:xfrm>
            <a:off x="20" y="1282"/>
            <a:ext cx="12191980" cy="6856718"/>
          </a:xfrm>
          <a:prstGeom prst="rect">
            <a:avLst/>
          </a:prstGeom>
        </p:spPr>
      </p:pic>
      <p:sp>
        <p:nvSpPr>
          <p:cNvPr id="1031" name="Rectangle 103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Rectangle 3">
            <a:extLst>
              <a:ext uri="{FF2B5EF4-FFF2-40B4-BE49-F238E27FC236}">
                <a16:creationId xmlns:a16="http://schemas.microsoft.com/office/drawing/2014/main" id="{BDA48C67-0F79-4A6F-F530-D2FA5E962ECD}"/>
              </a:ext>
            </a:extLst>
          </p:cNvPr>
          <p:cNvSpPr/>
          <p:nvPr/>
        </p:nvSpPr>
        <p:spPr>
          <a:xfrm>
            <a:off x="1787248" y="1787932"/>
            <a:ext cx="5986272" cy="2852928"/>
          </a:xfrm>
          <a:prstGeom prst="rect">
            <a:avLst/>
          </a:prstGeom>
          <a:solidFill>
            <a:schemeClr val="tx1">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4B23C540-1219-8DA5-8435-C181C62A9615}"/>
              </a:ext>
            </a:extLst>
          </p:cNvPr>
          <p:cNvCxnSpPr/>
          <p:nvPr/>
        </p:nvCxnSpPr>
        <p:spPr>
          <a:xfrm>
            <a:off x="1860368" y="4640860"/>
            <a:ext cx="5987796" cy="0"/>
          </a:xfrm>
          <a:prstGeom prst="line">
            <a:avLst/>
          </a:prstGeom>
          <a:ln w="508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AA8A43F-4D32-4CF5-3DC2-C3EE4A348F92}"/>
              </a:ext>
            </a:extLst>
          </p:cNvPr>
          <p:cNvSpPr txBox="1"/>
          <p:nvPr/>
        </p:nvSpPr>
        <p:spPr>
          <a:xfrm>
            <a:off x="1637705" y="2614232"/>
            <a:ext cx="6135815" cy="1200329"/>
          </a:xfrm>
          <a:prstGeom prst="rect">
            <a:avLst/>
          </a:prstGeom>
          <a:noFill/>
        </p:spPr>
        <p:txBody>
          <a:bodyPr wrap="square" rtlCol="0">
            <a:spAutoFit/>
          </a:bodyPr>
          <a:lstStyle/>
          <a:p>
            <a:pPr algn="ctr"/>
            <a:r>
              <a:rPr lang="en-US" sz="7200" b="1" spc="300" dirty="0">
                <a:solidFill>
                  <a:schemeClr val="bg1"/>
                </a:solidFill>
                <a:latin typeface="Lora" pitchFamily="2" charset="0"/>
              </a:rPr>
              <a:t>COLLEGEX</a:t>
            </a:r>
            <a:endParaRPr lang="en-IN" sz="7200" b="1" spc="300" dirty="0">
              <a:solidFill>
                <a:schemeClr val="bg1"/>
              </a:solidFill>
              <a:latin typeface="Lora" pitchFamily="2" charset="0"/>
            </a:endParaRPr>
          </a:p>
        </p:txBody>
      </p:sp>
      <p:sp>
        <p:nvSpPr>
          <p:cNvPr id="3" name="TextBox 2">
            <a:extLst>
              <a:ext uri="{FF2B5EF4-FFF2-40B4-BE49-F238E27FC236}">
                <a16:creationId xmlns:a16="http://schemas.microsoft.com/office/drawing/2014/main" id="{11AAE19F-BF25-4735-682F-287FAFC4A07C}"/>
              </a:ext>
            </a:extLst>
          </p:cNvPr>
          <p:cNvSpPr txBox="1"/>
          <p:nvPr/>
        </p:nvSpPr>
        <p:spPr>
          <a:xfrm>
            <a:off x="8888964" y="4557919"/>
            <a:ext cx="3303036" cy="1754326"/>
          </a:xfrm>
          <a:prstGeom prst="rect">
            <a:avLst/>
          </a:prstGeom>
          <a:noFill/>
        </p:spPr>
        <p:txBody>
          <a:bodyPr wrap="square" rtlCol="0">
            <a:spAutoFit/>
          </a:bodyPr>
          <a:lstStyle/>
          <a:p>
            <a:r>
              <a:rPr lang="en-US" sz="1800" dirty="0">
                <a:solidFill>
                  <a:schemeClr val="bg1"/>
                </a:solidFill>
              </a:rPr>
              <a:t>Project Guide-Satish Bhaskar</a:t>
            </a:r>
          </a:p>
          <a:p>
            <a:r>
              <a:rPr lang="en-US" sz="1800" dirty="0">
                <a:solidFill>
                  <a:schemeClr val="bg1"/>
                </a:solidFill>
              </a:rPr>
              <a:t>Batch no : 20</a:t>
            </a:r>
          </a:p>
          <a:p>
            <a:r>
              <a:rPr lang="en-US" sz="1800" dirty="0" err="1">
                <a:solidFill>
                  <a:schemeClr val="bg1"/>
                </a:solidFill>
              </a:rPr>
              <a:t>B.Yashika</a:t>
            </a:r>
            <a:r>
              <a:rPr lang="en-US" sz="1800" dirty="0">
                <a:solidFill>
                  <a:schemeClr val="bg1"/>
                </a:solidFill>
              </a:rPr>
              <a:t> 22AG1A05D2</a:t>
            </a:r>
          </a:p>
          <a:p>
            <a:r>
              <a:rPr lang="en-US" sz="1800" dirty="0">
                <a:solidFill>
                  <a:schemeClr val="bg1"/>
                </a:solidFill>
              </a:rPr>
              <a:t>M. Rama Sai Kiran 22AG1A05G6</a:t>
            </a:r>
          </a:p>
          <a:p>
            <a:r>
              <a:rPr lang="en-US" sz="1800" dirty="0" err="1">
                <a:solidFill>
                  <a:schemeClr val="bg1"/>
                </a:solidFill>
              </a:rPr>
              <a:t>K.Manideep</a:t>
            </a:r>
            <a:r>
              <a:rPr lang="en-US" sz="1800" dirty="0">
                <a:solidFill>
                  <a:schemeClr val="bg1"/>
                </a:solidFill>
              </a:rPr>
              <a:t> 22AG1A05F7</a:t>
            </a:r>
          </a:p>
          <a:p>
            <a:endParaRPr lang="en-IN" dirty="0"/>
          </a:p>
        </p:txBody>
      </p:sp>
    </p:spTree>
    <p:extLst>
      <p:ext uri="{BB962C8B-B14F-4D97-AF65-F5344CB8AC3E}">
        <p14:creationId xmlns:p14="http://schemas.microsoft.com/office/powerpoint/2010/main" val="1831484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414C1CB-F8D2-477A-CD6D-8D847CE02F48}"/>
              </a:ext>
            </a:extLst>
          </p:cNvPr>
          <p:cNvSpPr txBox="1"/>
          <p:nvPr/>
        </p:nvSpPr>
        <p:spPr>
          <a:xfrm>
            <a:off x="421420" y="818984"/>
            <a:ext cx="8603310" cy="5632311"/>
          </a:xfrm>
          <a:prstGeom prst="rect">
            <a:avLst/>
          </a:prstGeom>
          <a:noFill/>
        </p:spPr>
        <p:txBody>
          <a:bodyPr wrap="square" rtlCol="0">
            <a:spAutoFit/>
          </a:bodyPr>
          <a:lstStyle/>
          <a:p>
            <a:pPr marL="400050" indent="-400050">
              <a:buAutoNum type="romanUcPeriod"/>
            </a:pPr>
            <a:r>
              <a:rPr lang="en-IN" sz="1800" dirty="0">
                <a:solidFill>
                  <a:srgbClr val="FF0000"/>
                </a:solidFill>
              </a:rPr>
              <a:t>Introduction</a:t>
            </a:r>
            <a:br>
              <a:rPr lang="en-IN" sz="1800" dirty="0"/>
            </a:br>
            <a:r>
              <a:rPr lang="en-IN" sz="1800" dirty="0"/>
              <a:t>    </a:t>
            </a:r>
            <a:r>
              <a:rPr lang="en-IN" sz="1800" dirty="0">
                <a:solidFill>
                  <a:schemeClr val="tx1"/>
                </a:solidFill>
              </a:rPr>
              <a:t>A. Overview of College X</a:t>
            </a:r>
            <a:br>
              <a:rPr lang="en-IN" sz="1800" dirty="0">
                <a:solidFill>
                  <a:schemeClr val="tx1"/>
                </a:solidFill>
              </a:rPr>
            </a:br>
            <a:br>
              <a:rPr lang="en-IN" sz="1800" dirty="0">
                <a:solidFill>
                  <a:srgbClr val="FF0000"/>
                </a:solidFill>
              </a:rPr>
            </a:br>
            <a:r>
              <a:rPr lang="en-IN" sz="1800" dirty="0">
                <a:solidFill>
                  <a:srgbClr val="FF0000"/>
                </a:solidFill>
              </a:rPr>
              <a:t>II. Features of College X</a:t>
            </a:r>
            <a:br>
              <a:rPr lang="en-IN" sz="1800" dirty="0"/>
            </a:br>
            <a:r>
              <a:rPr lang="en-IN" sz="1800" dirty="0"/>
              <a:t>    </a:t>
            </a:r>
            <a:r>
              <a:rPr lang="en-IN" sz="1800" dirty="0">
                <a:solidFill>
                  <a:schemeClr val="tx1"/>
                </a:solidFill>
              </a:rPr>
              <a:t>1. Result access</a:t>
            </a:r>
            <a:br>
              <a:rPr lang="en-IN" sz="1800" dirty="0">
                <a:solidFill>
                  <a:schemeClr val="tx1"/>
                </a:solidFill>
              </a:rPr>
            </a:br>
            <a:r>
              <a:rPr lang="en-IN" sz="1800" dirty="0">
                <a:solidFill>
                  <a:schemeClr val="tx1"/>
                </a:solidFill>
              </a:rPr>
              <a:t>    2. Attendance tracking</a:t>
            </a:r>
            <a:br>
              <a:rPr lang="en-IN" sz="1800" dirty="0">
                <a:solidFill>
                  <a:schemeClr val="tx1"/>
                </a:solidFill>
              </a:rPr>
            </a:br>
            <a:r>
              <a:rPr lang="en-IN" sz="1800" dirty="0">
                <a:solidFill>
                  <a:schemeClr val="tx1"/>
                </a:solidFill>
              </a:rPr>
              <a:t>    3. Timetable management</a:t>
            </a:r>
            <a:br>
              <a:rPr lang="en-IN" sz="1800" dirty="0">
                <a:solidFill>
                  <a:schemeClr val="tx1"/>
                </a:solidFill>
              </a:rPr>
            </a:br>
            <a:r>
              <a:rPr lang="en-IN" sz="1800" dirty="0">
                <a:solidFill>
                  <a:schemeClr val="tx1"/>
                </a:solidFill>
              </a:rPr>
              <a:t>    4. Event notifications</a:t>
            </a:r>
            <a:br>
              <a:rPr lang="en-IN" sz="1800" dirty="0">
                <a:solidFill>
                  <a:schemeClr val="tx1"/>
                </a:solidFill>
              </a:rPr>
            </a:br>
            <a:r>
              <a:rPr lang="en-IN" sz="1800" dirty="0">
                <a:solidFill>
                  <a:schemeClr val="tx1"/>
                </a:solidFill>
              </a:rPr>
              <a:t>    5. Access to previous exam papers</a:t>
            </a:r>
            <a:br>
              <a:rPr lang="en-IN" sz="1800" dirty="0"/>
            </a:br>
            <a:br>
              <a:rPr lang="en-IN" sz="1800" dirty="0"/>
            </a:br>
            <a:r>
              <a:rPr lang="en-US" sz="1800" dirty="0">
                <a:solidFill>
                  <a:srgbClr val="FF0000"/>
                </a:solidFill>
              </a:rPr>
              <a:t>III. Benefits of College X</a:t>
            </a:r>
            <a:br>
              <a:rPr lang="en-US" sz="1800" dirty="0"/>
            </a:br>
            <a:r>
              <a:rPr lang="en-US" sz="1800" dirty="0"/>
              <a:t>    </a:t>
            </a:r>
            <a:r>
              <a:rPr lang="en-US" sz="1800" dirty="0">
                <a:solidFill>
                  <a:schemeClr val="tx1"/>
                </a:solidFill>
              </a:rPr>
              <a:t>A. Improved communication between student</a:t>
            </a:r>
            <a:br>
              <a:rPr lang="en-US" sz="1800" dirty="0">
                <a:solidFill>
                  <a:schemeClr val="tx1"/>
                </a:solidFill>
              </a:rPr>
            </a:br>
            <a:r>
              <a:rPr lang="en-US" sz="1800" dirty="0">
                <a:solidFill>
                  <a:schemeClr val="tx1"/>
                </a:solidFill>
              </a:rPr>
              <a:t>        and faculty</a:t>
            </a:r>
            <a:br>
              <a:rPr lang="en-US" sz="1800" dirty="0">
                <a:solidFill>
                  <a:schemeClr val="tx1"/>
                </a:solidFill>
              </a:rPr>
            </a:br>
            <a:r>
              <a:rPr lang="en-US" sz="1800" dirty="0">
                <a:solidFill>
                  <a:schemeClr val="tx1"/>
                </a:solidFill>
              </a:rPr>
              <a:t>    B. Enhanced efficiency in administrative tasks</a:t>
            </a:r>
            <a:br>
              <a:rPr lang="en-US" sz="1800" dirty="0">
                <a:solidFill>
                  <a:schemeClr val="tx1"/>
                </a:solidFill>
              </a:rPr>
            </a:br>
            <a:r>
              <a:rPr lang="en-US" sz="1800" dirty="0">
                <a:solidFill>
                  <a:schemeClr val="tx1"/>
                </a:solidFill>
              </a:rPr>
              <a:t>    C. Empowerment of students through access</a:t>
            </a:r>
            <a:br>
              <a:rPr lang="en-US" sz="1800" dirty="0">
                <a:solidFill>
                  <a:schemeClr val="tx1"/>
                </a:solidFill>
              </a:rPr>
            </a:br>
            <a:r>
              <a:rPr lang="en-US" sz="1800" dirty="0">
                <a:solidFill>
                  <a:schemeClr val="tx1"/>
                </a:solidFill>
              </a:rPr>
              <a:t>         to resources</a:t>
            </a:r>
          </a:p>
          <a:p>
            <a:pPr marL="400050" indent="-400050">
              <a:buAutoNum type="romanUcPeriod"/>
            </a:pPr>
            <a:endParaRPr lang="en-US" dirty="0"/>
          </a:p>
          <a:p>
            <a:r>
              <a:rPr lang="en-US" dirty="0">
                <a:solidFill>
                  <a:srgbClr val="FF0000"/>
                </a:solidFill>
              </a:rPr>
              <a:t>       </a:t>
            </a:r>
            <a:r>
              <a:rPr lang="en-IN" sz="1800" dirty="0">
                <a:solidFill>
                  <a:srgbClr val="FF0000"/>
                </a:solidFill>
              </a:rPr>
              <a:t>IV. Implementation of College X</a:t>
            </a:r>
            <a:br>
              <a:rPr lang="en-IN" sz="1800" dirty="0">
                <a:solidFill>
                  <a:srgbClr val="FF0000"/>
                </a:solidFill>
              </a:rPr>
            </a:br>
            <a:r>
              <a:rPr lang="en-IN" sz="1800" dirty="0"/>
              <a:t>            </a:t>
            </a:r>
            <a:r>
              <a:rPr lang="en-IN" sz="1800" dirty="0">
                <a:solidFill>
                  <a:schemeClr val="tx1"/>
                </a:solidFill>
              </a:rPr>
              <a:t>A. Planning and preparation</a:t>
            </a:r>
            <a:br>
              <a:rPr lang="en-IN" sz="1800" dirty="0">
                <a:solidFill>
                  <a:schemeClr val="tx1"/>
                </a:solidFill>
              </a:rPr>
            </a:br>
            <a:r>
              <a:rPr lang="en-IN" sz="1800" dirty="0">
                <a:solidFill>
                  <a:schemeClr val="tx1"/>
                </a:solidFill>
              </a:rPr>
              <a:t>            B. Deployment process </a:t>
            </a:r>
            <a:endParaRPr lang="en-IN" dirty="0"/>
          </a:p>
        </p:txBody>
      </p:sp>
      <p:sp>
        <p:nvSpPr>
          <p:cNvPr id="3" name="TextBox 2">
            <a:extLst>
              <a:ext uri="{FF2B5EF4-FFF2-40B4-BE49-F238E27FC236}">
                <a16:creationId xmlns:a16="http://schemas.microsoft.com/office/drawing/2014/main" id="{598C9328-0DE3-87B5-9928-AECF79DC7935}"/>
              </a:ext>
            </a:extLst>
          </p:cNvPr>
          <p:cNvSpPr txBox="1"/>
          <p:nvPr/>
        </p:nvSpPr>
        <p:spPr>
          <a:xfrm>
            <a:off x="3705309" y="114317"/>
            <a:ext cx="2838615" cy="584775"/>
          </a:xfrm>
          <a:prstGeom prst="rect">
            <a:avLst/>
          </a:prstGeom>
          <a:noFill/>
        </p:spPr>
        <p:txBody>
          <a:bodyPr wrap="square" rtlCol="0">
            <a:spAutoFit/>
          </a:bodyPr>
          <a:lstStyle/>
          <a:p>
            <a:r>
              <a:rPr lang="en-IN" sz="3200" b="1" u="sng" dirty="0"/>
              <a:t>Outline</a:t>
            </a:r>
          </a:p>
        </p:txBody>
      </p:sp>
    </p:spTree>
    <p:extLst>
      <p:ext uri="{BB962C8B-B14F-4D97-AF65-F5344CB8AC3E}">
        <p14:creationId xmlns:p14="http://schemas.microsoft.com/office/powerpoint/2010/main" val="3478571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graduation cap on top of a stack of books&#10;&#10;Description automatically generated">
            <a:extLst>
              <a:ext uri="{FF2B5EF4-FFF2-40B4-BE49-F238E27FC236}">
                <a16:creationId xmlns:a16="http://schemas.microsoft.com/office/drawing/2014/main" id="{7F21F175-F3B4-4876-D8D4-D967C47F59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6190" y="0"/>
            <a:ext cx="4574286" cy="6858000"/>
          </a:xfrm>
          <a:prstGeom prst="rect">
            <a:avLst/>
          </a:prstGeom>
        </p:spPr>
      </p:pic>
      <p:grpSp>
        <p:nvGrpSpPr>
          <p:cNvPr id="10" name="Group 9">
            <a:extLst>
              <a:ext uri="{FF2B5EF4-FFF2-40B4-BE49-F238E27FC236}">
                <a16:creationId xmlns:a16="http://schemas.microsoft.com/office/drawing/2014/main" id="{EFF82B69-E2B1-9D80-1A55-A74871ABDFFC}"/>
              </a:ext>
            </a:extLst>
          </p:cNvPr>
          <p:cNvGrpSpPr/>
          <p:nvPr/>
        </p:nvGrpSpPr>
        <p:grpSpPr>
          <a:xfrm>
            <a:off x="-188385" y="107857"/>
            <a:ext cx="6972192" cy="1280677"/>
            <a:chOff x="-102064" y="1342910"/>
            <a:chExt cx="6972192" cy="1280677"/>
          </a:xfrm>
        </p:grpSpPr>
        <p:sp>
          <p:nvSpPr>
            <p:cNvPr id="8" name="TextBox 7">
              <a:extLst>
                <a:ext uri="{FF2B5EF4-FFF2-40B4-BE49-F238E27FC236}">
                  <a16:creationId xmlns:a16="http://schemas.microsoft.com/office/drawing/2014/main" id="{DCFE539F-0F7A-CEE1-4E6A-DB420F5F8BF4}"/>
                </a:ext>
              </a:extLst>
            </p:cNvPr>
            <p:cNvSpPr txBox="1"/>
            <p:nvPr/>
          </p:nvSpPr>
          <p:spPr>
            <a:xfrm>
              <a:off x="774128" y="2158652"/>
              <a:ext cx="6096000" cy="464935"/>
            </a:xfrm>
            <a:prstGeom prst="rect">
              <a:avLst/>
            </a:prstGeom>
            <a:noFill/>
          </p:spPr>
          <p:txBody>
            <a:bodyPr wrap="square">
              <a:spAutoFit/>
            </a:bodyPr>
            <a:lstStyle/>
            <a:p>
              <a:pPr algn="r">
                <a:lnSpc>
                  <a:spcPct val="150000"/>
                </a:lnSpc>
              </a:pPr>
              <a:endParaRPr lang="en-IN" dirty="0">
                <a:solidFill>
                  <a:schemeClr val="tx1">
                    <a:lumMod val="75000"/>
                    <a:lumOff val="25000"/>
                  </a:schemeClr>
                </a:solidFill>
                <a:latin typeface="Lora" pitchFamily="2" charset="0"/>
              </a:endParaRPr>
            </a:p>
          </p:txBody>
        </p:sp>
        <p:sp>
          <p:nvSpPr>
            <p:cNvPr id="9" name="TextBox 8">
              <a:extLst>
                <a:ext uri="{FF2B5EF4-FFF2-40B4-BE49-F238E27FC236}">
                  <a16:creationId xmlns:a16="http://schemas.microsoft.com/office/drawing/2014/main" id="{581B3B4A-CC03-51D5-7385-82E94F14A23E}"/>
                </a:ext>
              </a:extLst>
            </p:cNvPr>
            <p:cNvSpPr txBox="1"/>
            <p:nvPr/>
          </p:nvSpPr>
          <p:spPr>
            <a:xfrm>
              <a:off x="-102064" y="1342910"/>
              <a:ext cx="2702157" cy="707886"/>
            </a:xfrm>
            <a:prstGeom prst="rect">
              <a:avLst/>
            </a:prstGeom>
            <a:noFill/>
          </p:spPr>
          <p:txBody>
            <a:bodyPr wrap="square" rtlCol="0">
              <a:spAutoFit/>
            </a:bodyPr>
            <a:lstStyle/>
            <a:p>
              <a:pPr algn="r"/>
              <a:r>
                <a:rPr lang="en-US" sz="4000" b="1" dirty="0">
                  <a:solidFill>
                    <a:schemeClr val="accent4"/>
                  </a:solidFill>
                  <a:latin typeface="Lora" pitchFamily="2" charset="0"/>
                </a:rPr>
                <a:t>Abstract</a:t>
              </a:r>
              <a:endParaRPr lang="en-IN" sz="4000" b="1" dirty="0">
                <a:solidFill>
                  <a:schemeClr val="accent4"/>
                </a:solidFill>
                <a:latin typeface="Lora" pitchFamily="2" charset="0"/>
              </a:endParaRPr>
            </a:p>
          </p:txBody>
        </p:sp>
      </p:grpSp>
      <p:sp>
        <p:nvSpPr>
          <p:cNvPr id="11" name="Rectangle 10">
            <a:extLst>
              <a:ext uri="{FF2B5EF4-FFF2-40B4-BE49-F238E27FC236}">
                <a16:creationId xmlns:a16="http://schemas.microsoft.com/office/drawing/2014/main" id="{93361572-F459-1078-21ED-539236C6E3C9}"/>
              </a:ext>
            </a:extLst>
          </p:cNvPr>
          <p:cNvSpPr/>
          <p:nvPr/>
        </p:nvSpPr>
        <p:spPr>
          <a:xfrm>
            <a:off x="330200" y="5130800"/>
            <a:ext cx="6959600" cy="1371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FD06684-9993-8358-E47D-753492C983EF}"/>
              </a:ext>
            </a:extLst>
          </p:cNvPr>
          <p:cNvSpPr txBox="1"/>
          <p:nvPr/>
        </p:nvSpPr>
        <p:spPr>
          <a:xfrm>
            <a:off x="762000" y="5524213"/>
            <a:ext cx="6096000" cy="584775"/>
          </a:xfrm>
          <a:prstGeom prst="rect">
            <a:avLst/>
          </a:prstGeom>
          <a:noFill/>
        </p:spPr>
        <p:txBody>
          <a:bodyPr wrap="square">
            <a:spAutoFit/>
          </a:bodyPr>
          <a:lstStyle/>
          <a:p>
            <a:pPr algn="ctr"/>
            <a:r>
              <a:rPr lang="en-US" sz="1600" b="0" i="0" dirty="0">
                <a:solidFill>
                  <a:schemeClr val="bg1"/>
                </a:solidFill>
                <a:effectLst/>
                <a:latin typeface="Lora" pitchFamily="2" charset="0"/>
              </a:rPr>
              <a:t>"College is the best time of your life. Enjoy every moment and make the most of it."</a:t>
            </a:r>
          </a:p>
        </p:txBody>
      </p:sp>
      <p:sp>
        <p:nvSpPr>
          <p:cNvPr id="2" name="TextBox 1">
            <a:extLst>
              <a:ext uri="{FF2B5EF4-FFF2-40B4-BE49-F238E27FC236}">
                <a16:creationId xmlns:a16="http://schemas.microsoft.com/office/drawing/2014/main" id="{1BB56775-3C75-6395-89F0-C28FA72DF227}"/>
              </a:ext>
            </a:extLst>
          </p:cNvPr>
          <p:cNvSpPr txBox="1"/>
          <p:nvPr/>
        </p:nvSpPr>
        <p:spPr>
          <a:xfrm>
            <a:off x="157720" y="767638"/>
            <a:ext cx="7156173" cy="4247317"/>
          </a:xfrm>
          <a:prstGeom prst="rect">
            <a:avLst/>
          </a:prstGeom>
          <a:noFill/>
        </p:spPr>
        <p:txBody>
          <a:bodyPr wrap="square" rtlCol="0">
            <a:spAutoFit/>
          </a:bodyPr>
          <a:lstStyle/>
          <a:p>
            <a:pPr marL="0" indent="0">
              <a:buNone/>
            </a:pPr>
            <a:r>
              <a:rPr lang="en-US" sz="1800"/>
              <a:t>College X is an innovative College Management System (CMS) website designed to enhance communication between students and faculty members. The platform offers a set of features including result checking, attendance tracking, timetable management, event notifications, and access to a repository of previous exam papers. For students, College X provides a centralized hub to access their academic performance, enabling them to view results and attendance records conveniently. Additionally, students can stay organized with personalized timetables and stay informed about upcoming events. The availability of previous exam papers facilitates effective exam preparation, contributing to improved learning outcomes . Faculty members benefit from efficient administrative tools, accessing student data seamlessly and managing course schedules effectively through College X. The intuitive interface ensures user-friendly navigation for both students and faculty members, promoting accessibility across various devices.</a:t>
            </a:r>
            <a:endParaRPr lang="en-IN" sz="1800" dirty="0"/>
          </a:p>
        </p:txBody>
      </p:sp>
    </p:spTree>
    <p:extLst>
      <p:ext uri="{BB962C8B-B14F-4D97-AF65-F5344CB8AC3E}">
        <p14:creationId xmlns:p14="http://schemas.microsoft.com/office/powerpoint/2010/main" val="1065817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1EE6C47-C177-EFE6-0507-ECE0BEBF4BA0}"/>
              </a:ext>
            </a:extLst>
          </p:cNvPr>
          <p:cNvGrpSpPr/>
          <p:nvPr/>
        </p:nvGrpSpPr>
        <p:grpSpPr>
          <a:xfrm>
            <a:off x="6327533" y="1966226"/>
            <a:ext cx="5535410" cy="2568435"/>
            <a:chOff x="760857" y="1344543"/>
            <a:chExt cx="6122543" cy="2568435"/>
          </a:xfrm>
        </p:grpSpPr>
        <p:sp>
          <p:nvSpPr>
            <p:cNvPr id="3" name="TextBox 2">
              <a:extLst>
                <a:ext uri="{FF2B5EF4-FFF2-40B4-BE49-F238E27FC236}">
                  <a16:creationId xmlns:a16="http://schemas.microsoft.com/office/drawing/2014/main" id="{F1ADA94E-6C0E-A885-B71A-3813821057EA}"/>
                </a:ext>
              </a:extLst>
            </p:cNvPr>
            <p:cNvSpPr txBox="1"/>
            <p:nvPr/>
          </p:nvSpPr>
          <p:spPr>
            <a:xfrm>
              <a:off x="774128" y="2158652"/>
              <a:ext cx="6096000" cy="1754326"/>
            </a:xfrm>
            <a:prstGeom prst="rect">
              <a:avLst/>
            </a:prstGeom>
            <a:noFill/>
          </p:spPr>
          <p:txBody>
            <a:bodyPr wrap="square">
              <a:spAutoFit/>
            </a:bodyPr>
            <a:lstStyle/>
            <a:p>
              <a:pPr marL="0" indent="0">
                <a:buNone/>
              </a:pPr>
              <a:r>
                <a:rPr lang="en-US" dirty="0"/>
                <a:t>Traditional method involving physical paperwork for record-keeping. Faculty manually record attendance, grades, and other academic data. Timetables and event schedules are often displayed on notice boards . Limited accessibility and scalability. Prone to errors and data loss . Time-consuming administrative processes.</a:t>
              </a:r>
              <a:endParaRPr lang="en-IN" dirty="0"/>
            </a:p>
          </p:txBody>
        </p:sp>
        <p:sp>
          <p:nvSpPr>
            <p:cNvPr id="4" name="TextBox 3">
              <a:extLst>
                <a:ext uri="{FF2B5EF4-FFF2-40B4-BE49-F238E27FC236}">
                  <a16:creationId xmlns:a16="http://schemas.microsoft.com/office/drawing/2014/main" id="{80B1BCE3-AA3A-49F5-B395-30BB9011156D}"/>
                </a:ext>
              </a:extLst>
            </p:cNvPr>
            <p:cNvSpPr txBox="1"/>
            <p:nvPr/>
          </p:nvSpPr>
          <p:spPr>
            <a:xfrm>
              <a:off x="760857" y="1344543"/>
              <a:ext cx="6122543" cy="646331"/>
            </a:xfrm>
            <a:prstGeom prst="rect">
              <a:avLst/>
            </a:prstGeom>
            <a:noFill/>
          </p:spPr>
          <p:txBody>
            <a:bodyPr wrap="square" rtlCol="0">
              <a:spAutoFit/>
            </a:bodyPr>
            <a:lstStyle/>
            <a:p>
              <a:r>
                <a:rPr lang="en-IN" sz="3600" dirty="0">
                  <a:solidFill>
                    <a:schemeClr val="accent4"/>
                  </a:solidFill>
                </a:rPr>
                <a:t>EXISTING SYSTEM:</a:t>
              </a:r>
              <a:endParaRPr lang="en-IN" sz="3600" b="1" dirty="0">
                <a:solidFill>
                  <a:schemeClr val="accent4"/>
                </a:solidFill>
                <a:latin typeface="Lora" pitchFamily="2" charset="0"/>
              </a:endParaRPr>
            </a:p>
          </p:txBody>
        </p:sp>
      </p:grpSp>
      <p:pic>
        <p:nvPicPr>
          <p:cNvPr id="6" name="Picture 5" descr="A group of people looking at a computer&#10;&#10;Description automatically generated">
            <a:extLst>
              <a:ext uri="{FF2B5EF4-FFF2-40B4-BE49-F238E27FC236}">
                <a16:creationId xmlns:a16="http://schemas.microsoft.com/office/drawing/2014/main" id="{59A1626C-B7CA-7B62-4102-EF6057715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864469" cy="3911600"/>
          </a:xfrm>
          <a:prstGeom prst="rect">
            <a:avLst/>
          </a:prstGeom>
        </p:spPr>
      </p:pic>
      <p:sp>
        <p:nvSpPr>
          <p:cNvPr id="7" name="Rectangle 6">
            <a:extLst>
              <a:ext uri="{FF2B5EF4-FFF2-40B4-BE49-F238E27FC236}">
                <a16:creationId xmlns:a16="http://schemas.microsoft.com/office/drawing/2014/main" id="{45A53D51-A55F-4E54-F458-294EEBF4CC2B}"/>
              </a:ext>
            </a:extLst>
          </p:cNvPr>
          <p:cNvSpPr/>
          <p:nvPr/>
        </p:nvSpPr>
        <p:spPr>
          <a:xfrm>
            <a:off x="0" y="3911600"/>
            <a:ext cx="5864469" cy="2946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DA1B301-DC1D-A904-68E7-810079EB173B}"/>
              </a:ext>
            </a:extLst>
          </p:cNvPr>
          <p:cNvSpPr txBox="1"/>
          <p:nvPr/>
        </p:nvSpPr>
        <p:spPr>
          <a:xfrm>
            <a:off x="642226" y="5092412"/>
            <a:ext cx="4580015" cy="584775"/>
          </a:xfrm>
          <a:prstGeom prst="rect">
            <a:avLst/>
          </a:prstGeom>
          <a:noFill/>
        </p:spPr>
        <p:txBody>
          <a:bodyPr wrap="square">
            <a:spAutoFit/>
          </a:bodyPr>
          <a:lstStyle/>
          <a:p>
            <a:pPr algn="ctr"/>
            <a:r>
              <a:rPr lang="en-US" sz="1600" b="0" i="0" dirty="0">
                <a:solidFill>
                  <a:schemeClr val="bg1"/>
                </a:solidFill>
                <a:effectLst/>
                <a:latin typeface="Lora" pitchFamily="2" charset="0"/>
              </a:rPr>
              <a:t>“Education is not the filling of a pail, but the lighting of a fire.”</a:t>
            </a:r>
            <a:endParaRPr lang="en-IN" sz="1600" dirty="0">
              <a:solidFill>
                <a:schemeClr val="bg1"/>
              </a:solidFill>
              <a:latin typeface="Lora" pitchFamily="2" charset="0"/>
            </a:endParaRPr>
          </a:p>
        </p:txBody>
      </p:sp>
    </p:spTree>
    <p:extLst>
      <p:ext uri="{BB962C8B-B14F-4D97-AF65-F5344CB8AC3E}">
        <p14:creationId xmlns:p14="http://schemas.microsoft.com/office/powerpoint/2010/main" val="1704798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8A171B-A375-27E9-16B0-B4670DFC69E2}"/>
              </a:ext>
            </a:extLst>
          </p:cNvPr>
          <p:cNvSpPr txBox="1"/>
          <p:nvPr/>
        </p:nvSpPr>
        <p:spPr>
          <a:xfrm>
            <a:off x="874643" y="1296063"/>
            <a:ext cx="8905461" cy="2862322"/>
          </a:xfrm>
          <a:prstGeom prst="rect">
            <a:avLst/>
          </a:prstGeom>
          <a:noFill/>
        </p:spPr>
        <p:txBody>
          <a:bodyPr wrap="square" rtlCol="0">
            <a:spAutoFit/>
          </a:bodyPr>
          <a:lstStyle/>
          <a:p>
            <a:r>
              <a:rPr lang="en-US" sz="2400" dirty="0">
                <a:solidFill>
                  <a:srgbClr val="FF0000"/>
                </a:solidFill>
              </a:rPr>
              <a:t>Manual Processes</a:t>
            </a:r>
            <a:r>
              <a:rPr lang="en-US" sz="1800" dirty="0"/>
              <a:t>: Reliance on paper-based or manual data entry leads to inefficiencies and errors. Manual systems are time-consuming and labor-intensive, leading to inefficiencies in administrative tasks. </a:t>
            </a:r>
          </a:p>
          <a:p>
            <a:endParaRPr lang="en-US" sz="1800" dirty="0"/>
          </a:p>
          <a:p>
            <a:r>
              <a:rPr lang="en-US" sz="2400" dirty="0">
                <a:solidFill>
                  <a:srgbClr val="FF0000"/>
                </a:solidFill>
              </a:rPr>
              <a:t>Limited Accessibility: </a:t>
            </a:r>
            <a:r>
              <a:rPr lang="en-US" sz="1800" dirty="0"/>
              <a:t>Information stored physically or on local systems hampers easy access and sharing.</a:t>
            </a:r>
          </a:p>
          <a:p>
            <a:r>
              <a:rPr lang="en-US" sz="1800" dirty="0"/>
              <a:t> </a:t>
            </a:r>
            <a:endParaRPr lang="en-US" sz="2400" dirty="0">
              <a:solidFill>
                <a:srgbClr val="FF0000"/>
              </a:solidFill>
            </a:endParaRPr>
          </a:p>
          <a:p>
            <a:r>
              <a:rPr lang="en-US" sz="2400" dirty="0">
                <a:solidFill>
                  <a:srgbClr val="FF0000"/>
                </a:solidFill>
              </a:rPr>
              <a:t>Scalability Issues</a:t>
            </a:r>
            <a:r>
              <a:rPr lang="en-US" sz="1800" dirty="0"/>
              <a:t>: Difficulty in scaling up to meet the needs of growing institutions</a:t>
            </a:r>
            <a:endParaRPr lang="en-IN" sz="1800" dirty="0"/>
          </a:p>
          <a:p>
            <a:endParaRPr lang="en-IN" dirty="0"/>
          </a:p>
        </p:txBody>
      </p:sp>
      <p:sp>
        <p:nvSpPr>
          <p:cNvPr id="3" name="TextBox 2">
            <a:extLst>
              <a:ext uri="{FF2B5EF4-FFF2-40B4-BE49-F238E27FC236}">
                <a16:creationId xmlns:a16="http://schemas.microsoft.com/office/drawing/2014/main" id="{6A24AAF9-3043-6829-62E9-3E26343812D5}"/>
              </a:ext>
            </a:extLst>
          </p:cNvPr>
          <p:cNvSpPr txBox="1"/>
          <p:nvPr/>
        </p:nvSpPr>
        <p:spPr>
          <a:xfrm>
            <a:off x="2918129" y="349857"/>
            <a:ext cx="5247860" cy="523220"/>
          </a:xfrm>
          <a:prstGeom prst="rect">
            <a:avLst/>
          </a:prstGeom>
          <a:noFill/>
        </p:spPr>
        <p:txBody>
          <a:bodyPr wrap="square" rtlCol="0">
            <a:spAutoFit/>
          </a:bodyPr>
          <a:lstStyle/>
          <a:p>
            <a:r>
              <a:rPr lang="en-IN" sz="2800" dirty="0">
                <a:solidFill>
                  <a:srgbClr val="92D050"/>
                </a:solidFill>
              </a:rPr>
              <a:t>Disadvantages of existing system</a:t>
            </a:r>
          </a:p>
        </p:txBody>
      </p:sp>
    </p:spTree>
    <p:extLst>
      <p:ext uri="{BB962C8B-B14F-4D97-AF65-F5344CB8AC3E}">
        <p14:creationId xmlns:p14="http://schemas.microsoft.com/office/powerpoint/2010/main" val="776413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B785EE0-925D-AA2A-1816-2608051EBAF1}"/>
              </a:ext>
            </a:extLst>
          </p:cNvPr>
          <p:cNvGrpSpPr/>
          <p:nvPr/>
        </p:nvGrpSpPr>
        <p:grpSpPr>
          <a:xfrm>
            <a:off x="355600" y="1129298"/>
            <a:ext cx="6122543" cy="3122433"/>
            <a:chOff x="760857" y="1344543"/>
            <a:chExt cx="6122543" cy="3122433"/>
          </a:xfrm>
        </p:grpSpPr>
        <p:sp>
          <p:nvSpPr>
            <p:cNvPr id="3" name="TextBox 2">
              <a:extLst>
                <a:ext uri="{FF2B5EF4-FFF2-40B4-BE49-F238E27FC236}">
                  <a16:creationId xmlns:a16="http://schemas.microsoft.com/office/drawing/2014/main" id="{8E90C170-242C-F064-B2FF-8DC74C0103E4}"/>
                </a:ext>
              </a:extLst>
            </p:cNvPr>
            <p:cNvSpPr txBox="1"/>
            <p:nvPr/>
          </p:nvSpPr>
          <p:spPr>
            <a:xfrm>
              <a:off x="774128" y="2158652"/>
              <a:ext cx="6096000" cy="2308324"/>
            </a:xfrm>
            <a:prstGeom prst="rect">
              <a:avLst/>
            </a:prstGeom>
            <a:noFill/>
          </p:spPr>
          <p:txBody>
            <a:bodyPr wrap="square">
              <a:spAutoFit/>
            </a:bodyPr>
            <a:lstStyle/>
            <a:p>
              <a:r>
                <a:rPr lang="en-US" sz="2400" dirty="0"/>
                <a:t>College X is an integrated College Management System designed to modernize academic administration and communication within educational institutions. This comprehensive platform offers a wide range of features to meet the diverse needs of students, faculty.</a:t>
              </a:r>
              <a:endParaRPr lang="en-IN" sz="2400" dirty="0"/>
            </a:p>
          </p:txBody>
        </p:sp>
        <p:sp>
          <p:nvSpPr>
            <p:cNvPr id="4" name="TextBox 3">
              <a:extLst>
                <a:ext uri="{FF2B5EF4-FFF2-40B4-BE49-F238E27FC236}">
                  <a16:creationId xmlns:a16="http://schemas.microsoft.com/office/drawing/2014/main" id="{1C0EC6E5-7121-91AE-29F5-342B95F05157}"/>
                </a:ext>
              </a:extLst>
            </p:cNvPr>
            <p:cNvSpPr txBox="1"/>
            <p:nvPr/>
          </p:nvSpPr>
          <p:spPr>
            <a:xfrm>
              <a:off x="760857" y="1344543"/>
              <a:ext cx="6122543" cy="707886"/>
            </a:xfrm>
            <a:prstGeom prst="rect">
              <a:avLst/>
            </a:prstGeom>
            <a:noFill/>
          </p:spPr>
          <p:txBody>
            <a:bodyPr wrap="square" rtlCol="0">
              <a:spAutoFit/>
            </a:bodyPr>
            <a:lstStyle/>
            <a:p>
              <a:pPr algn="r"/>
              <a:r>
                <a:rPr lang="en-IN" sz="4000" dirty="0">
                  <a:solidFill>
                    <a:srgbClr val="92D050"/>
                  </a:solidFill>
                </a:rPr>
                <a:t>Proposed System:</a:t>
              </a:r>
              <a:endParaRPr lang="en-IN" sz="4000" b="1" dirty="0">
                <a:solidFill>
                  <a:srgbClr val="92D050"/>
                </a:solidFill>
                <a:latin typeface="Lora" pitchFamily="2" charset="0"/>
              </a:endParaRPr>
            </a:p>
          </p:txBody>
        </p:sp>
      </p:grpSp>
      <p:sp>
        <p:nvSpPr>
          <p:cNvPr id="5" name="Rectangle 4">
            <a:extLst>
              <a:ext uri="{FF2B5EF4-FFF2-40B4-BE49-F238E27FC236}">
                <a16:creationId xmlns:a16="http://schemas.microsoft.com/office/drawing/2014/main" id="{902E5960-DB8C-4766-DA6E-A9D606A2F753}"/>
              </a:ext>
            </a:extLst>
          </p:cNvPr>
          <p:cNvSpPr/>
          <p:nvPr/>
        </p:nvSpPr>
        <p:spPr>
          <a:xfrm>
            <a:off x="10388600" y="-1"/>
            <a:ext cx="1803400" cy="170210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851B27DB-5D28-9879-3DD8-F9DD04F496EE}"/>
              </a:ext>
            </a:extLst>
          </p:cNvPr>
          <p:cNvSpPr/>
          <p:nvPr/>
        </p:nvSpPr>
        <p:spPr>
          <a:xfrm>
            <a:off x="0" y="5105917"/>
            <a:ext cx="12192000" cy="17526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lumMod val="75000"/>
                  <a:lumOff val="25000"/>
                </a:schemeClr>
              </a:solidFill>
            </a:endParaRPr>
          </a:p>
        </p:txBody>
      </p:sp>
      <p:pic>
        <p:nvPicPr>
          <p:cNvPr id="8" name="Picture 7" descr="A group of people sitting on stairs&#10;&#10;Description automatically generated with medium confidence">
            <a:extLst>
              <a:ext uri="{FF2B5EF4-FFF2-40B4-BE49-F238E27FC236}">
                <a16:creationId xmlns:a16="http://schemas.microsoft.com/office/drawing/2014/main" id="{D5C1B2CA-8CB5-B6EB-C8D9-134B78AEE3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4200" y="1214337"/>
            <a:ext cx="4902200" cy="3269766"/>
          </a:xfrm>
          <a:prstGeom prst="rect">
            <a:avLst/>
          </a:prstGeom>
        </p:spPr>
      </p:pic>
      <p:sp>
        <p:nvSpPr>
          <p:cNvPr id="9" name="TextBox 8">
            <a:extLst>
              <a:ext uri="{FF2B5EF4-FFF2-40B4-BE49-F238E27FC236}">
                <a16:creationId xmlns:a16="http://schemas.microsoft.com/office/drawing/2014/main" id="{28C3F3CF-5909-A1DF-8EA1-E4256CA40380}"/>
              </a:ext>
            </a:extLst>
          </p:cNvPr>
          <p:cNvSpPr txBox="1"/>
          <p:nvPr/>
        </p:nvSpPr>
        <p:spPr>
          <a:xfrm>
            <a:off x="1187165" y="5812940"/>
            <a:ext cx="9817671" cy="338554"/>
          </a:xfrm>
          <a:prstGeom prst="rect">
            <a:avLst/>
          </a:prstGeom>
          <a:noFill/>
        </p:spPr>
        <p:txBody>
          <a:bodyPr wrap="square">
            <a:spAutoFit/>
          </a:bodyPr>
          <a:lstStyle/>
          <a:p>
            <a:pPr algn="ctr"/>
            <a:r>
              <a:rPr lang="en-US" sz="1600" b="0" i="0" dirty="0">
                <a:solidFill>
                  <a:schemeClr val="tx1">
                    <a:lumMod val="75000"/>
                    <a:lumOff val="25000"/>
                  </a:schemeClr>
                </a:solidFill>
                <a:effectLst/>
                <a:latin typeface="Lora" pitchFamily="2" charset="0"/>
              </a:rPr>
              <a:t>“College is about finding yourself, challenging your limits, and discovering your passions.”</a:t>
            </a:r>
            <a:endParaRPr lang="en-IN" sz="1600" dirty="0">
              <a:solidFill>
                <a:schemeClr val="tx1">
                  <a:lumMod val="75000"/>
                  <a:lumOff val="25000"/>
                </a:schemeClr>
              </a:solidFill>
              <a:latin typeface="Lora" pitchFamily="2" charset="0"/>
            </a:endParaRPr>
          </a:p>
        </p:txBody>
      </p:sp>
    </p:spTree>
    <p:extLst>
      <p:ext uri="{BB962C8B-B14F-4D97-AF65-F5344CB8AC3E}">
        <p14:creationId xmlns:p14="http://schemas.microsoft.com/office/powerpoint/2010/main" val="3401175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FAACC73-2EB8-6F8C-D81B-8750B2862C0B}"/>
              </a:ext>
            </a:extLst>
          </p:cNvPr>
          <p:cNvGrpSpPr/>
          <p:nvPr/>
        </p:nvGrpSpPr>
        <p:grpSpPr>
          <a:xfrm>
            <a:off x="4977865" y="654677"/>
            <a:ext cx="6790065" cy="5919564"/>
            <a:chOff x="-626527" y="-46935"/>
            <a:chExt cx="7469071" cy="5919564"/>
          </a:xfrm>
        </p:grpSpPr>
        <p:sp>
          <p:nvSpPr>
            <p:cNvPr id="3" name="TextBox 2">
              <a:extLst>
                <a:ext uri="{FF2B5EF4-FFF2-40B4-BE49-F238E27FC236}">
                  <a16:creationId xmlns:a16="http://schemas.microsoft.com/office/drawing/2014/main" id="{6891B676-11F6-1CE9-788C-C911DA1A8727}"/>
                </a:ext>
              </a:extLst>
            </p:cNvPr>
            <p:cNvSpPr txBox="1"/>
            <p:nvPr/>
          </p:nvSpPr>
          <p:spPr>
            <a:xfrm>
              <a:off x="-35459" y="886649"/>
              <a:ext cx="6878003" cy="4985980"/>
            </a:xfrm>
            <a:prstGeom prst="rect">
              <a:avLst/>
            </a:prstGeom>
            <a:noFill/>
          </p:spPr>
          <p:txBody>
            <a:bodyPr wrap="square">
              <a:spAutoFit/>
            </a:bodyPr>
            <a:lstStyle/>
            <a:p>
              <a:r>
                <a:rPr lang="en-US" sz="2000" dirty="0">
                  <a:solidFill>
                    <a:srgbClr val="FF0000"/>
                  </a:solidFill>
                </a:rPr>
                <a:t>Result Management: </a:t>
              </a:r>
              <a:r>
                <a:rPr lang="en-US" sz="2000" dirty="0"/>
                <a:t>Students can view their academic results in real-time, while faculty members can efficiently manage and update grades. </a:t>
              </a:r>
            </a:p>
            <a:p>
              <a:r>
                <a:rPr lang="en-US" sz="2000" dirty="0">
                  <a:solidFill>
                    <a:srgbClr val="FF0000"/>
                  </a:solidFill>
                </a:rPr>
                <a:t>Attendance Tracking: </a:t>
              </a:r>
              <a:r>
                <a:rPr lang="en-US" sz="2000" dirty="0"/>
                <a:t>Automated attendance tracking system for both students and faculty, promoting accountability and facilitating accurate record-keeping</a:t>
              </a:r>
            </a:p>
            <a:p>
              <a:r>
                <a:rPr lang="en-US" sz="2000" dirty="0">
                  <a:solidFill>
                    <a:srgbClr val="FF0000"/>
                  </a:solidFill>
                </a:rPr>
                <a:t>Timetable Management: </a:t>
              </a:r>
              <a:r>
                <a:rPr lang="en-US" sz="2000" dirty="0"/>
                <a:t>Personalized timetables for students, with easy access to course schedules and class timings. Faculty members can manage their teaching schedules effectively. </a:t>
              </a:r>
            </a:p>
            <a:p>
              <a:r>
                <a:rPr lang="en-US" sz="2000" dirty="0">
                  <a:solidFill>
                    <a:srgbClr val="FF0000"/>
                  </a:solidFill>
                </a:rPr>
                <a:t>Access to Previous Papers: </a:t>
              </a:r>
              <a:r>
                <a:rPr lang="en-US" sz="2000" dirty="0"/>
                <a:t>Extensive repository of previous exam papers and study materials, enabling students to prepare effectively for assessments. </a:t>
              </a:r>
            </a:p>
            <a:p>
              <a:r>
                <a:rPr lang="en-US" sz="2000" dirty="0">
                  <a:solidFill>
                    <a:srgbClr val="FF0000"/>
                  </a:solidFill>
                </a:rPr>
                <a:t>Security Measures: </a:t>
              </a:r>
              <a:r>
                <a:rPr lang="en-US" sz="2000" dirty="0"/>
                <a:t>Robust security measures implemented to protect sensitive student data.</a:t>
              </a:r>
            </a:p>
            <a:p>
              <a:endParaRPr lang="en-IN" dirty="0"/>
            </a:p>
          </p:txBody>
        </p:sp>
        <p:sp>
          <p:nvSpPr>
            <p:cNvPr id="4" name="TextBox 3">
              <a:extLst>
                <a:ext uri="{FF2B5EF4-FFF2-40B4-BE49-F238E27FC236}">
                  <a16:creationId xmlns:a16="http://schemas.microsoft.com/office/drawing/2014/main" id="{FFA5B691-935E-CFA1-59D6-BAAA61D82816}"/>
                </a:ext>
              </a:extLst>
            </p:cNvPr>
            <p:cNvSpPr txBox="1"/>
            <p:nvPr/>
          </p:nvSpPr>
          <p:spPr>
            <a:xfrm>
              <a:off x="-626527" y="-46935"/>
              <a:ext cx="6122543" cy="707886"/>
            </a:xfrm>
            <a:prstGeom prst="rect">
              <a:avLst/>
            </a:prstGeom>
            <a:noFill/>
          </p:spPr>
          <p:txBody>
            <a:bodyPr wrap="square" rtlCol="0">
              <a:spAutoFit/>
            </a:bodyPr>
            <a:lstStyle/>
            <a:p>
              <a:r>
                <a:rPr lang="en-IN" sz="4000" dirty="0">
                  <a:solidFill>
                    <a:schemeClr val="accent4"/>
                  </a:solidFill>
                </a:rPr>
                <a:t>Key features of College X</a:t>
              </a:r>
              <a:endParaRPr lang="en-IN" sz="4000" b="1" dirty="0">
                <a:solidFill>
                  <a:schemeClr val="accent4"/>
                </a:solidFill>
                <a:latin typeface="Lora" pitchFamily="2" charset="0"/>
              </a:endParaRPr>
            </a:p>
          </p:txBody>
        </p:sp>
      </p:grpSp>
      <p:pic>
        <p:nvPicPr>
          <p:cNvPr id="6" name="Picture 5" descr="A group of people looking at a computer&#10;&#10;Description automatically generated with medium confidence">
            <a:extLst>
              <a:ext uri="{FF2B5EF4-FFF2-40B4-BE49-F238E27FC236}">
                <a16:creationId xmlns:a16="http://schemas.microsoft.com/office/drawing/2014/main" id="{CE175AB1-C63E-599B-D57B-9ED66A2A82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4286" cy="6858000"/>
          </a:xfrm>
          <a:prstGeom prst="rect">
            <a:avLst/>
          </a:prstGeom>
        </p:spPr>
      </p:pic>
      <p:grpSp>
        <p:nvGrpSpPr>
          <p:cNvPr id="9" name="Group 8">
            <a:extLst>
              <a:ext uri="{FF2B5EF4-FFF2-40B4-BE49-F238E27FC236}">
                <a16:creationId xmlns:a16="http://schemas.microsoft.com/office/drawing/2014/main" id="{E2D2297D-1327-C549-2F97-603EF585D819}"/>
              </a:ext>
            </a:extLst>
          </p:cNvPr>
          <p:cNvGrpSpPr/>
          <p:nvPr/>
        </p:nvGrpSpPr>
        <p:grpSpPr>
          <a:xfrm>
            <a:off x="2807843" y="4485128"/>
            <a:ext cx="2539365" cy="2066044"/>
            <a:chOff x="2807843" y="4485128"/>
            <a:chExt cx="2539365" cy="2066044"/>
          </a:xfrm>
        </p:grpSpPr>
        <p:sp>
          <p:nvSpPr>
            <p:cNvPr id="7" name="Rectangle 6">
              <a:extLst>
                <a:ext uri="{FF2B5EF4-FFF2-40B4-BE49-F238E27FC236}">
                  <a16:creationId xmlns:a16="http://schemas.microsoft.com/office/drawing/2014/main" id="{B5FF7F68-7B1E-6C19-F8E7-839E86CD85C6}"/>
                </a:ext>
              </a:extLst>
            </p:cNvPr>
            <p:cNvSpPr/>
            <p:nvPr/>
          </p:nvSpPr>
          <p:spPr>
            <a:xfrm>
              <a:off x="2807843" y="4485128"/>
              <a:ext cx="2527300" cy="206604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B3E7DBD8-3962-C233-3063-48914206ABEC}"/>
                </a:ext>
              </a:extLst>
            </p:cNvPr>
            <p:cNvSpPr txBox="1"/>
            <p:nvPr/>
          </p:nvSpPr>
          <p:spPr>
            <a:xfrm>
              <a:off x="2996936" y="4979541"/>
              <a:ext cx="2350272" cy="1077218"/>
            </a:xfrm>
            <a:prstGeom prst="rect">
              <a:avLst/>
            </a:prstGeom>
            <a:noFill/>
          </p:spPr>
          <p:txBody>
            <a:bodyPr wrap="square">
              <a:spAutoFit/>
            </a:bodyPr>
            <a:lstStyle/>
            <a:p>
              <a:pPr algn="ctr"/>
              <a:r>
                <a:rPr lang="en-US" sz="1600" b="0" i="0" dirty="0">
                  <a:solidFill>
                    <a:schemeClr val="bg1"/>
                  </a:solidFill>
                  <a:effectLst/>
                  <a:latin typeface="Lora" pitchFamily="2" charset="0"/>
                </a:rPr>
                <a:t>“The beautiful thing about learning is that no one can take it away from you.”</a:t>
              </a:r>
              <a:endParaRPr lang="en-IN" sz="1600" dirty="0">
                <a:solidFill>
                  <a:schemeClr val="bg1"/>
                </a:solidFill>
                <a:latin typeface="Lora" pitchFamily="2" charset="0"/>
              </a:endParaRPr>
            </a:p>
          </p:txBody>
        </p:sp>
      </p:grpSp>
    </p:spTree>
    <p:extLst>
      <p:ext uri="{BB962C8B-B14F-4D97-AF65-F5344CB8AC3E}">
        <p14:creationId xmlns:p14="http://schemas.microsoft.com/office/powerpoint/2010/main" val="4254103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5EF450B-1A5E-8C5C-6E6F-8B531B0B887B}"/>
              </a:ext>
            </a:extLst>
          </p:cNvPr>
          <p:cNvGrpSpPr/>
          <p:nvPr/>
        </p:nvGrpSpPr>
        <p:grpSpPr>
          <a:xfrm>
            <a:off x="266700" y="626748"/>
            <a:ext cx="6122543" cy="3584098"/>
            <a:chOff x="760857" y="1344543"/>
            <a:chExt cx="6122543" cy="3584098"/>
          </a:xfrm>
        </p:grpSpPr>
        <p:sp>
          <p:nvSpPr>
            <p:cNvPr id="3" name="TextBox 2">
              <a:extLst>
                <a:ext uri="{FF2B5EF4-FFF2-40B4-BE49-F238E27FC236}">
                  <a16:creationId xmlns:a16="http://schemas.microsoft.com/office/drawing/2014/main" id="{9ED33CD0-944C-78DB-04FD-4AA76F279A23}"/>
                </a:ext>
              </a:extLst>
            </p:cNvPr>
            <p:cNvSpPr txBox="1"/>
            <p:nvPr/>
          </p:nvSpPr>
          <p:spPr>
            <a:xfrm>
              <a:off x="774128" y="2158652"/>
              <a:ext cx="6096000" cy="2769989"/>
            </a:xfrm>
            <a:prstGeom prst="rect">
              <a:avLst/>
            </a:prstGeom>
            <a:noFill/>
          </p:spPr>
          <p:txBody>
            <a:bodyPr wrap="square">
              <a:spAutoFit/>
            </a:bodyPr>
            <a:lstStyle/>
            <a:p>
              <a:r>
                <a:rPr lang="en-US" sz="2400" dirty="0">
                  <a:solidFill>
                    <a:srgbClr val="FF0000"/>
                  </a:solidFill>
                </a:rPr>
                <a:t>Efficiency: </a:t>
              </a:r>
              <a:r>
                <a:rPr lang="en-US" sz="1800" dirty="0"/>
                <a:t>Streamlines administrative tasks through automation, reducing time and effort required for tasks like attendance tracking, grading, and scheduling.</a:t>
              </a:r>
            </a:p>
            <a:p>
              <a:endParaRPr lang="en-US" sz="1800" dirty="0"/>
            </a:p>
            <a:p>
              <a:r>
                <a:rPr lang="en-US" sz="1800" dirty="0"/>
                <a:t> </a:t>
              </a:r>
              <a:r>
                <a:rPr lang="en-US" sz="2400" dirty="0">
                  <a:solidFill>
                    <a:srgbClr val="FF0000"/>
                  </a:solidFill>
                </a:rPr>
                <a:t>Accessibility: </a:t>
              </a:r>
              <a:r>
                <a:rPr lang="en-US" sz="1800" dirty="0"/>
                <a:t>Provides easy access to academic information, timetables, and events from anywhere, enhancing communication and collaboration among students, faculty, and administrators.</a:t>
              </a:r>
              <a:endParaRPr lang="en-IN" sz="1800" dirty="0"/>
            </a:p>
            <a:p>
              <a:endParaRPr lang="en-IN" sz="1800" dirty="0"/>
            </a:p>
          </p:txBody>
        </p:sp>
        <p:sp>
          <p:nvSpPr>
            <p:cNvPr id="4" name="TextBox 3">
              <a:extLst>
                <a:ext uri="{FF2B5EF4-FFF2-40B4-BE49-F238E27FC236}">
                  <a16:creationId xmlns:a16="http://schemas.microsoft.com/office/drawing/2014/main" id="{D28AF15F-B14C-CA9A-DBB4-78FD9D277D14}"/>
                </a:ext>
              </a:extLst>
            </p:cNvPr>
            <p:cNvSpPr txBox="1"/>
            <p:nvPr/>
          </p:nvSpPr>
          <p:spPr>
            <a:xfrm>
              <a:off x="760857" y="1344543"/>
              <a:ext cx="6122543" cy="646331"/>
            </a:xfrm>
            <a:prstGeom prst="rect">
              <a:avLst/>
            </a:prstGeom>
            <a:noFill/>
          </p:spPr>
          <p:txBody>
            <a:bodyPr wrap="square" rtlCol="0">
              <a:spAutoFit/>
            </a:bodyPr>
            <a:lstStyle/>
            <a:p>
              <a:pPr algn="r"/>
              <a:r>
                <a:rPr lang="en-IN" sz="3600" dirty="0">
                  <a:solidFill>
                    <a:srgbClr val="92D050"/>
                  </a:solidFill>
                </a:rPr>
                <a:t>Advantages of proposed system</a:t>
              </a:r>
              <a:endParaRPr lang="en-IN" sz="3600" b="1" dirty="0">
                <a:solidFill>
                  <a:srgbClr val="92D050"/>
                </a:solidFill>
                <a:latin typeface="Lora" pitchFamily="2" charset="0"/>
              </a:endParaRPr>
            </a:p>
          </p:txBody>
        </p:sp>
      </p:grpSp>
      <p:pic>
        <p:nvPicPr>
          <p:cNvPr id="6" name="Picture 5" descr="A group of people high fiving in front of a building&#10;&#10;Description automatically generated">
            <a:extLst>
              <a:ext uri="{FF2B5EF4-FFF2-40B4-BE49-F238E27FC236}">
                <a16:creationId xmlns:a16="http://schemas.microsoft.com/office/drawing/2014/main" id="{817DDA73-886E-BB08-9449-944CA55226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6963" y="764915"/>
            <a:ext cx="5238337" cy="3493971"/>
          </a:xfrm>
          <a:prstGeom prst="rect">
            <a:avLst/>
          </a:prstGeom>
        </p:spPr>
      </p:pic>
      <p:sp>
        <p:nvSpPr>
          <p:cNvPr id="7" name="Rectangle 6">
            <a:extLst>
              <a:ext uri="{FF2B5EF4-FFF2-40B4-BE49-F238E27FC236}">
                <a16:creationId xmlns:a16="http://schemas.microsoft.com/office/drawing/2014/main" id="{623C7470-439A-C847-895E-CBB4DACBF395}"/>
              </a:ext>
            </a:extLst>
          </p:cNvPr>
          <p:cNvSpPr/>
          <p:nvPr/>
        </p:nvSpPr>
        <p:spPr>
          <a:xfrm>
            <a:off x="0" y="4991100"/>
            <a:ext cx="3505200" cy="381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9F3D12E5-077E-435F-FB02-FE75927B6CDD}"/>
              </a:ext>
            </a:extLst>
          </p:cNvPr>
          <p:cNvSpPr/>
          <p:nvPr/>
        </p:nvSpPr>
        <p:spPr>
          <a:xfrm>
            <a:off x="4762500" y="4991100"/>
            <a:ext cx="7035800" cy="1344603"/>
          </a:xfrm>
          <a:prstGeom prst="roundRect">
            <a:avLst>
              <a:gd name="adj" fmla="val 28355"/>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1088CEE-22B9-B1D1-8226-9B5463A26EEA}"/>
              </a:ext>
            </a:extLst>
          </p:cNvPr>
          <p:cNvSpPr txBox="1"/>
          <p:nvPr/>
        </p:nvSpPr>
        <p:spPr>
          <a:xfrm>
            <a:off x="5825983" y="5371014"/>
            <a:ext cx="4908835" cy="584775"/>
          </a:xfrm>
          <a:prstGeom prst="rect">
            <a:avLst/>
          </a:prstGeom>
          <a:noFill/>
        </p:spPr>
        <p:txBody>
          <a:bodyPr wrap="square">
            <a:spAutoFit/>
          </a:bodyPr>
          <a:lstStyle/>
          <a:p>
            <a:pPr algn="ctr"/>
            <a:r>
              <a:rPr lang="en-US" sz="1600" b="0" i="0" dirty="0">
                <a:solidFill>
                  <a:schemeClr val="tx1">
                    <a:lumMod val="75000"/>
                    <a:lumOff val="25000"/>
                  </a:schemeClr>
                </a:solidFill>
                <a:effectLst/>
                <a:latin typeface="Lora" pitchFamily="2" charset="0"/>
              </a:rPr>
              <a:t>“College is a time for growth, exploration, and building a foundation for your future success.”</a:t>
            </a:r>
            <a:endParaRPr lang="en-IN" sz="1600" dirty="0">
              <a:solidFill>
                <a:schemeClr val="tx1">
                  <a:lumMod val="75000"/>
                  <a:lumOff val="25000"/>
                </a:schemeClr>
              </a:solidFill>
              <a:latin typeface="Lora" pitchFamily="2" charset="0"/>
            </a:endParaRPr>
          </a:p>
        </p:txBody>
      </p:sp>
    </p:spTree>
    <p:extLst>
      <p:ext uri="{BB962C8B-B14F-4D97-AF65-F5344CB8AC3E}">
        <p14:creationId xmlns:p14="http://schemas.microsoft.com/office/powerpoint/2010/main" val="1636525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59F667-75F3-877F-3F7C-2FF6A9D96B45}"/>
              </a:ext>
            </a:extLst>
          </p:cNvPr>
          <p:cNvSpPr txBox="1"/>
          <p:nvPr/>
        </p:nvSpPr>
        <p:spPr>
          <a:xfrm>
            <a:off x="564542" y="667910"/>
            <a:ext cx="6726803" cy="5170646"/>
          </a:xfrm>
          <a:prstGeom prst="rect">
            <a:avLst/>
          </a:prstGeom>
          <a:noFill/>
        </p:spPr>
        <p:txBody>
          <a:bodyPr wrap="square" rtlCol="0">
            <a:spAutoFit/>
          </a:bodyPr>
          <a:lstStyle/>
          <a:p>
            <a:r>
              <a:rPr lang="en-US" sz="2400" dirty="0">
                <a:solidFill>
                  <a:srgbClr val="FF0000"/>
                </a:solidFill>
              </a:rPr>
              <a:t>Data Security: </a:t>
            </a:r>
            <a:r>
              <a:rPr lang="en-US" sz="1800" dirty="0"/>
              <a:t>Implements robust security measures to protect sensitive student information, ensuring compliance with data privacy regulations and mitigating the risk of unauthorized access or data breaches. </a:t>
            </a:r>
          </a:p>
          <a:p>
            <a:endParaRPr lang="en-US" sz="1800" dirty="0"/>
          </a:p>
          <a:p>
            <a:r>
              <a:rPr lang="en-US" sz="2400" dirty="0">
                <a:solidFill>
                  <a:srgbClr val="FF0000"/>
                </a:solidFill>
              </a:rPr>
              <a:t>Scalability: </a:t>
            </a:r>
            <a:r>
              <a:rPr lang="en-US" sz="1800" dirty="0"/>
              <a:t>Designed to scale with the institution's growth, accommodating increasing numbers of students, faculty, and courses without compromising performance or functionality .</a:t>
            </a:r>
          </a:p>
          <a:p>
            <a:endParaRPr lang="en-US" sz="1800" dirty="0"/>
          </a:p>
          <a:p>
            <a:r>
              <a:rPr lang="en-US" sz="2400" dirty="0">
                <a:solidFill>
                  <a:srgbClr val="FF0000"/>
                </a:solidFill>
              </a:rPr>
              <a:t>Customization: </a:t>
            </a:r>
            <a:r>
              <a:rPr lang="en-US" sz="1800" dirty="0"/>
              <a:t>Offers flexibility for customization to meet the unique needs and preferences of each educational institution.</a:t>
            </a:r>
          </a:p>
          <a:p>
            <a:endParaRPr lang="en-US" sz="1800" dirty="0"/>
          </a:p>
          <a:p>
            <a:r>
              <a:rPr lang="en-US" sz="2400" dirty="0">
                <a:solidFill>
                  <a:srgbClr val="FF0000"/>
                </a:solidFill>
              </a:rPr>
              <a:t>Continuous Improvement: </a:t>
            </a:r>
            <a:r>
              <a:rPr lang="en-US" sz="1800" dirty="0"/>
              <a:t>Commits to ongoing updates and enhancements based on user feedback and emerging trends in educational technology, ensuring that College X remains at the forefront of college management systems.</a:t>
            </a:r>
            <a:endParaRPr lang="en-IN" sz="1800" dirty="0"/>
          </a:p>
          <a:p>
            <a:endParaRPr lang="en-IN" dirty="0"/>
          </a:p>
        </p:txBody>
      </p:sp>
    </p:spTree>
    <p:extLst>
      <p:ext uri="{BB962C8B-B14F-4D97-AF65-F5344CB8AC3E}">
        <p14:creationId xmlns:p14="http://schemas.microsoft.com/office/powerpoint/2010/main" val="3369489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69E442-BA19-80DA-4DEE-18827BD937CA}"/>
              </a:ext>
            </a:extLst>
          </p:cNvPr>
          <p:cNvSpPr txBox="1"/>
          <p:nvPr/>
        </p:nvSpPr>
        <p:spPr>
          <a:xfrm>
            <a:off x="572493" y="2130949"/>
            <a:ext cx="5383033" cy="2308324"/>
          </a:xfrm>
          <a:prstGeom prst="rect">
            <a:avLst/>
          </a:prstGeom>
          <a:noFill/>
        </p:spPr>
        <p:txBody>
          <a:bodyPr wrap="square" rtlCol="0">
            <a:spAutoFit/>
          </a:bodyPr>
          <a:lstStyle/>
          <a:p>
            <a:r>
              <a:rPr lang="en-IN" sz="2400" dirty="0"/>
              <a:t>1)Servers</a:t>
            </a:r>
          </a:p>
          <a:p>
            <a:r>
              <a:rPr lang="en-IN" sz="2400" dirty="0"/>
              <a:t>2)Peripheral Devices</a:t>
            </a:r>
          </a:p>
          <a:p>
            <a:r>
              <a:rPr lang="en-IN" sz="2400" dirty="0"/>
              <a:t>3)Security and Backup Solutions</a:t>
            </a:r>
          </a:p>
          <a:p>
            <a:r>
              <a:rPr lang="en-IN" sz="2400" dirty="0"/>
              <a:t>4) Technical Support</a:t>
            </a:r>
          </a:p>
          <a:p>
            <a:r>
              <a:rPr lang="en-IN" sz="2400" dirty="0"/>
              <a:t>5)Maintenance</a:t>
            </a:r>
          </a:p>
          <a:p>
            <a:endParaRPr lang="en-IN" sz="2400" dirty="0"/>
          </a:p>
        </p:txBody>
      </p:sp>
      <p:sp>
        <p:nvSpPr>
          <p:cNvPr id="3" name="TextBox 2">
            <a:extLst>
              <a:ext uri="{FF2B5EF4-FFF2-40B4-BE49-F238E27FC236}">
                <a16:creationId xmlns:a16="http://schemas.microsoft.com/office/drawing/2014/main" id="{2F521A47-FB78-BC62-307D-1E848BD6726F}"/>
              </a:ext>
            </a:extLst>
          </p:cNvPr>
          <p:cNvSpPr txBox="1"/>
          <p:nvPr/>
        </p:nvSpPr>
        <p:spPr>
          <a:xfrm>
            <a:off x="198781" y="763326"/>
            <a:ext cx="6130455" cy="769441"/>
          </a:xfrm>
          <a:prstGeom prst="rect">
            <a:avLst/>
          </a:prstGeom>
          <a:noFill/>
        </p:spPr>
        <p:txBody>
          <a:bodyPr wrap="square" rtlCol="0">
            <a:spAutoFit/>
          </a:bodyPr>
          <a:lstStyle/>
          <a:p>
            <a:r>
              <a:rPr lang="en-IN" sz="4400" dirty="0">
                <a:solidFill>
                  <a:schemeClr val="accent4"/>
                </a:solidFill>
              </a:rPr>
              <a:t>Hardware requirements:</a:t>
            </a:r>
          </a:p>
        </p:txBody>
      </p:sp>
    </p:spTree>
    <p:extLst>
      <p:ext uri="{BB962C8B-B14F-4D97-AF65-F5344CB8AC3E}">
        <p14:creationId xmlns:p14="http://schemas.microsoft.com/office/powerpoint/2010/main" val="946190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BBAE2F7-7B45-D32F-135C-9B3E1AEB1CBB}"/>
              </a:ext>
            </a:extLst>
          </p:cNvPr>
          <p:cNvGrpSpPr/>
          <p:nvPr/>
        </p:nvGrpSpPr>
        <p:grpSpPr>
          <a:xfrm>
            <a:off x="-171664" y="1049572"/>
            <a:ext cx="5824228" cy="2940819"/>
            <a:chOff x="463477" y="1156825"/>
            <a:chExt cx="6406651" cy="2940819"/>
          </a:xfrm>
        </p:grpSpPr>
        <p:sp>
          <p:nvSpPr>
            <p:cNvPr id="3" name="TextBox 2">
              <a:extLst>
                <a:ext uri="{FF2B5EF4-FFF2-40B4-BE49-F238E27FC236}">
                  <a16:creationId xmlns:a16="http://schemas.microsoft.com/office/drawing/2014/main" id="{3013DD93-DDFE-7B1C-5C41-8C475B4CFF44}"/>
                </a:ext>
              </a:extLst>
            </p:cNvPr>
            <p:cNvSpPr txBox="1"/>
            <p:nvPr/>
          </p:nvSpPr>
          <p:spPr>
            <a:xfrm>
              <a:off x="774128" y="2158652"/>
              <a:ext cx="6096000" cy="1938992"/>
            </a:xfrm>
            <a:prstGeom prst="rect">
              <a:avLst/>
            </a:prstGeom>
            <a:noFill/>
          </p:spPr>
          <p:txBody>
            <a:bodyPr wrap="square">
              <a:spAutoFit/>
            </a:bodyPr>
            <a:lstStyle/>
            <a:p>
              <a:r>
                <a:rPr lang="en-IN" sz="2400" dirty="0"/>
                <a:t>1) Learning Management System (LMS)</a:t>
              </a:r>
            </a:p>
            <a:p>
              <a:r>
                <a:rPr lang="en-IN" sz="2400" dirty="0"/>
                <a:t>2) Cloud Services</a:t>
              </a:r>
            </a:p>
            <a:p>
              <a:r>
                <a:rPr lang="en-IN" sz="2400" dirty="0"/>
                <a:t>3) Data Base Management System (DBMS)</a:t>
              </a:r>
            </a:p>
            <a:p>
              <a:r>
                <a:rPr lang="en-IN" sz="2400" dirty="0"/>
                <a:t>4)  HTML,CSS,JS</a:t>
              </a:r>
            </a:p>
            <a:p>
              <a:r>
                <a:rPr lang="en-IN" sz="2400" dirty="0"/>
                <a:t>5) Data encryption</a:t>
              </a:r>
            </a:p>
          </p:txBody>
        </p:sp>
        <p:sp>
          <p:nvSpPr>
            <p:cNvPr id="4" name="TextBox 3">
              <a:extLst>
                <a:ext uri="{FF2B5EF4-FFF2-40B4-BE49-F238E27FC236}">
                  <a16:creationId xmlns:a16="http://schemas.microsoft.com/office/drawing/2014/main" id="{3367B5E1-E050-BA94-1B93-47DDC22D666C}"/>
                </a:ext>
              </a:extLst>
            </p:cNvPr>
            <p:cNvSpPr txBox="1"/>
            <p:nvPr/>
          </p:nvSpPr>
          <p:spPr>
            <a:xfrm>
              <a:off x="463477" y="1156825"/>
              <a:ext cx="6122543" cy="707886"/>
            </a:xfrm>
            <a:prstGeom prst="rect">
              <a:avLst/>
            </a:prstGeom>
            <a:noFill/>
          </p:spPr>
          <p:txBody>
            <a:bodyPr wrap="square" rtlCol="0">
              <a:spAutoFit/>
            </a:bodyPr>
            <a:lstStyle/>
            <a:p>
              <a:pPr algn="r"/>
              <a:r>
                <a:rPr lang="en-IN" sz="4000" dirty="0">
                  <a:solidFill>
                    <a:schemeClr val="accent4"/>
                  </a:solidFill>
                </a:rPr>
                <a:t>Software requirements:</a:t>
              </a:r>
              <a:endParaRPr lang="en-IN" sz="4000" b="1" dirty="0">
                <a:solidFill>
                  <a:schemeClr val="accent4"/>
                </a:solidFill>
                <a:latin typeface="Lora" pitchFamily="2" charset="0"/>
              </a:endParaRPr>
            </a:p>
          </p:txBody>
        </p:sp>
      </p:grpSp>
      <p:pic>
        <p:nvPicPr>
          <p:cNvPr id="9" name="Picture 8" descr="A group of people in graduation gowns&#10;&#10;Description automatically generated with medium confidence">
            <a:extLst>
              <a:ext uri="{FF2B5EF4-FFF2-40B4-BE49-F238E27FC236}">
                <a16:creationId xmlns:a16="http://schemas.microsoft.com/office/drawing/2014/main" id="{C8B5FE52-6907-2A25-5D87-1E5432196FE6}"/>
              </a:ext>
            </a:extLst>
          </p:cNvPr>
          <p:cNvPicPr>
            <a:picLocks noChangeAspect="1"/>
          </p:cNvPicPr>
          <p:nvPr/>
        </p:nvPicPr>
        <p:blipFill rotWithShape="1">
          <a:blip r:embed="rId2">
            <a:extLst>
              <a:ext uri="{28A0092B-C50C-407E-A947-70E740481C1C}">
                <a14:useLocalDpi xmlns:a14="http://schemas.microsoft.com/office/drawing/2010/main" val="0"/>
              </a:ext>
            </a:extLst>
          </a:blip>
          <a:srcRect l="8202" t="7505" r="6721"/>
          <a:stretch/>
        </p:blipFill>
        <p:spPr>
          <a:xfrm>
            <a:off x="6527372" y="1847150"/>
            <a:ext cx="5370286" cy="3894262"/>
          </a:xfrm>
          <a:prstGeom prst="rect">
            <a:avLst/>
          </a:prstGeom>
        </p:spPr>
      </p:pic>
      <p:sp>
        <p:nvSpPr>
          <p:cNvPr id="10" name="L-Shape 9">
            <a:extLst>
              <a:ext uri="{FF2B5EF4-FFF2-40B4-BE49-F238E27FC236}">
                <a16:creationId xmlns:a16="http://schemas.microsoft.com/office/drawing/2014/main" id="{7D0B2D0B-0420-AD8C-58E7-F91D7F3EBD53}"/>
              </a:ext>
            </a:extLst>
          </p:cNvPr>
          <p:cNvSpPr/>
          <p:nvPr/>
        </p:nvSpPr>
        <p:spPr>
          <a:xfrm>
            <a:off x="5865377" y="2886818"/>
            <a:ext cx="5500914" cy="3410857"/>
          </a:xfrm>
          <a:prstGeom prst="corner">
            <a:avLst>
              <a:gd name="adj1" fmla="val 13372"/>
              <a:gd name="adj2" fmla="val 1691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12295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F713BD-B5E8-B920-2BD3-6A95DEF0363F}"/>
              </a:ext>
            </a:extLst>
          </p:cNvPr>
          <p:cNvSpPr txBox="1"/>
          <p:nvPr/>
        </p:nvSpPr>
        <p:spPr>
          <a:xfrm>
            <a:off x="540690" y="1733385"/>
            <a:ext cx="6305384" cy="4093428"/>
          </a:xfrm>
          <a:prstGeom prst="rect">
            <a:avLst/>
          </a:prstGeom>
          <a:noFill/>
        </p:spPr>
        <p:txBody>
          <a:bodyPr wrap="square" rtlCol="0">
            <a:spAutoFit/>
          </a:bodyPr>
          <a:lstStyle/>
          <a:p>
            <a:r>
              <a:rPr lang="en-US" sz="2000" dirty="0"/>
              <a:t>In conclusion, College X represents a transformative solution for modernizing college management systems and enhancing the overall academic experience within educational institutions .Furthermore , College X is not merely a static solution but a dynamic platform committed to continuous improvement and innovation. In essence, College X is not just a software platform; it is a catalyst for positive change within the realm of higher education. By embracing College X, educational institutions can unlock new possibilities, optimize their operations, and ultimately empower students and faculty to thrive in an increasingly digital and interconnected world.</a:t>
            </a:r>
            <a:endParaRPr lang="en-IN" sz="2000" dirty="0"/>
          </a:p>
          <a:p>
            <a:endParaRPr lang="en-IN" sz="2000" dirty="0"/>
          </a:p>
        </p:txBody>
      </p:sp>
      <p:sp>
        <p:nvSpPr>
          <p:cNvPr id="3" name="TextBox 2">
            <a:extLst>
              <a:ext uri="{FF2B5EF4-FFF2-40B4-BE49-F238E27FC236}">
                <a16:creationId xmlns:a16="http://schemas.microsoft.com/office/drawing/2014/main" id="{5F67848D-2CE5-FC74-4867-B426B0BC4AA8}"/>
              </a:ext>
            </a:extLst>
          </p:cNvPr>
          <p:cNvSpPr txBox="1"/>
          <p:nvPr/>
        </p:nvSpPr>
        <p:spPr>
          <a:xfrm>
            <a:off x="715617" y="461176"/>
            <a:ext cx="2846567" cy="769441"/>
          </a:xfrm>
          <a:prstGeom prst="rect">
            <a:avLst/>
          </a:prstGeom>
          <a:noFill/>
        </p:spPr>
        <p:txBody>
          <a:bodyPr wrap="square" rtlCol="0">
            <a:spAutoFit/>
          </a:bodyPr>
          <a:lstStyle/>
          <a:p>
            <a:r>
              <a:rPr lang="en-IN" sz="4400" dirty="0">
                <a:solidFill>
                  <a:schemeClr val="accent4"/>
                </a:solidFill>
              </a:rPr>
              <a:t>Conclusion:</a:t>
            </a:r>
          </a:p>
        </p:txBody>
      </p:sp>
    </p:spTree>
    <p:extLst>
      <p:ext uri="{BB962C8B-B14F-4D97-AF65-F5344CB8AC3E}">
        <p14:creationId xmlns:p14="http://schemas.microsoft.com/office/powerpoint/2010/main" val="3108025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022012-F0A4-EAD0-5433-F3D20941C3F8}"/>
              </a:ext>
            </a:extLst>
          </p:cNvPr>
          <p:cNvSpPr txBox="1"/>
          <p:nvPr/>
        </p:nvSpPr>
        <p:spPr>
          <a:xfrm>
            <a:off x="1103214" y="859441"/>
            <a:ext cx="8872151" cy="298543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chemeClr val="accent4"/>
                </a:solidFill>
                <a:effectLst/>
                <a:uLnTx/>
                <a:uFillTx/>
                <a:latin typeface="LORA" pitchFamily="2" charset="0"/>
                <a:ea typeface="+mn-ea"/>
                <a:cs typeface="Segoe UI" panose="020B0502040204020203" pitchFamily="34" charset="0"/>
              </a:rPr>
              <a:t>Thank You!</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5400" b="1" dirty="0">
              <a:solidFill>
                <a:schemeClr val="accent4"/>
              </a:solidFill>
              <a:latin typeface="LORA" pitchFamily="2" charset="0"/>
              <a:cs typeface="Segoe UI" panose="020B0502040204020203"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chemeClr val="accent4"/>
              </a:solidFill>
              <a:effectLst/>
              <a:uLnTx/>
              <a:uFillTx/>
              <a:latin typeface="LORA" pitchFamily="2" charset="0"/>
              <a:ea typeface="+mn-ea"/>
              <a:cs typeface="Segoe UI" panose="020B0502040204020203"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0000"/>
                </a:solidFill>
                <a:effectLst/>
                <a:uLnTx/>
                <a:uFillTx/>
                <a:latin typeface="LORA" pitchFamily="2" charset="0"/>
                <a:ea typeface="+mn-ea"/>
                <a:cs typeface="Segoe UI" panose="020B0502040204020203" pitchFamily="34" charset="0"/>
              </a:rPr>
              <a:t>We respect your valuable </a:t>
            </a:r>
            <a:r>
              <a:rPr kumimoji="0" lang="en-US" sz="4000" b="0" i="0" u="none" strike="noStrike" kern="1200" cap="none" spc="0" normalizeH="0" baseline="0" noProof="0">
                <a:ln>
                  <a:noFill/>
                </a:ln>
                <a:solidFill>
                  <a:srgbClr val="000000"/>
                </a:solidFill>
                <a:effectLst/>
                <a:uLnTx/>
                <a:uFillTx/>
                <a:latin typeface="LORA" pitchFamily="2" charset="0"/>
                <a:ea typeface="+mn-ea"/>
                <a:cs typeface="Segoe UI" panose="020B0502040204020203" pitchFamily="34" charset="0"/>
              </a:rPr>
              <a:t>time .</a:t>
            </a:r>
            <a:endParaRPr kumimoji="0" lang="en-US" sz="4000" b="0" i="0" u="none" strike="noStrike" kern="1200" cap="none" spc="0" normalizeH="0" baseline="0" noProof="0" dirty="0">
              <a:ln>
                <a:noFill/>
              </a:ln>
              <a:solidFill>
                <a:srgbClr val="000000"/>
              </a:solidFill>
              <a:effectLst/>
              <a:uLnTx/>
              <a:uFillTx/>
              <a:latin typeface="LORA" pitchFamily="2" charset="0"/>
              <a:ea typeface="+mn-ea"/>
              <a:cs typeface="Segoe UI" panose="020B0502040204020203" pitchFamily="34" charset="0"/>
            </a:endParaRPr>
          </a:p>
        </p:txBody>
      </p:sp>
    </p:spTree>
    <p:extLst>
      <p:ext uri="{BB962C8B-B14F-4D97-AF65-F5344CB8AC3E}">
        <p14:creationId xmlns:p14="http://schemas.microsoft.com/office/powerpoint/2010/main" val="40761518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Custom 81">
      <a:dk1>
        <a:sysClr val="windowText" lastClr="000000"/>
      </a:dk1>
      <a:lt1>
        <a:sysClr val="window" lastClr="FFFFFF"/>
      </a:lt1>
      <a:dk2>
        <a:srgbClr val="385723"/>
      </a:dk2>
      <a:lt2>
        <a:srgbClr val="00A84C"/>
      </a:lt2>
      <a:accent1>
        <a:srgbClr val="0977A6"/>
      </a:accent1>
      <a:accent2>
        <a:srgbClr val="09B077"/>
      </a:accent2>
      <a:accent3>
        <a:srgbClr val="009900"/>
      </a:accent3>
      <a:accent4>
        <a:srgbClr val="91B009"/>
      </a:accent4>
      <a:accent5>
        <a:srgbClr val="A68908"/>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308</TotalTime>
  <Words>976</Words>
  <Application>Microsoft Office PowerPoint</Application>
  <PresentationFormat>Widescreen</PresentationFormat>
  <Paragraphs>62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Lora</vt:lpstr>
      <vt:lpstr>Lora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Deckzi Solutions</dc:creator>
  <cp:lastModifiedBy>bagam pooja</cp:lastModifiedBy>
  <cp:revision>49</cp:revision>
  <dcterms:created xsi:type="dcterms:W3CDTF">2022-01-31T04:01:14Z</dcterms:created>
  <dcterms:modified xsi:type="dcterms:W3CDTF">2024-07-03T06:59:25Z</dcterms:modified>
</cp:coreProperties>
</file>